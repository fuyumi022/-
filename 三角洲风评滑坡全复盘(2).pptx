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8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 type="screen4x3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0106F6D-FB2C-4A93-B18F-24E90D5C3B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jpe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jpe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5-d2t6aotnfo2stf9didu0.png"/>
          <p:cNvPicPr>
            <a:picLocks noChangeAspect="1"/>
          </p:cNvPicPr>
          <p:nvPr/>
        </p:nvPicPr>
        <p:blipFill>
          <a:blip r:embed="rId2"/>
          <a:srcRect t="3" b="3"/>
          <a:stretch>
            <a:fillRect/>
          </a:stretch>
        </p:blipFill>
        <p:spPr>
          <a:xfrm>
            <a:off x="0" y="0"/>
            <a:ext cx="12214225" cy="68586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29025" y="1935480"/>
            <a:ext cx="7943215" cy="21158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1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三角洲风评滑坡全复盘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21:49-d2t6andnfo2stf9did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575" y="4330700"/>
            <a:ext cx="2272665" cy="6032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367615" y="4432935"/>
            <a:ext cx="2135884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汇报人:王宣泽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09-05-12:21:49-d2t6andnfo2stf9did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575" y="5041900"/>
            <a:ext cx="2272665" cy="6032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67615" y="5144135"/>
            <a:ext cx="2135884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时间:2025/12/19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3-d2t6aodnfo2stf9didq0.png"/>
          <p:cNvPicPr>
            <a:picLocks noChangeAspect="1"/>
          </p:cNvPicPr>
          <p:nvPr/>
        </p:nvPicPr>
        <p:blipFill>
          <a:blip r:embed="rId2"/>
          <a:srcRect l="26" r="26"/>
          <a:stretch>
            <a:fillRect/>
          </a:stretch>
        </p:blipFill>
        <p:spPr>
          <a:xfrm>
            <a:off x="635" y="-635"/>
            <a:ext cx="1220724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81380" y="577850"/>
            <a:ext cx="2235200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目录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-315595" y="1571625"/>
            <a:ext cx="4629150" cy="68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CONTENTS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097145" y="1184275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</p:spPr>
      </p:sp>
      <p:sp>
        <p:nvSpPr>
          <p:cNvPr id="7" name="Text 3"/>
          <p:cNvSpPr/>
          <p:nvPr/>
        </p:nvSpPr>
        <p:spPr>
          <a:xfrm>
            <a:off x="5097145" y="1184275"/>
            <a:ext cx="5905500" cy="6731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6279515" y="1286510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5097145" y="2024380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</p:spPr>
      </p:sp>
      <p:sp>
        <p:nvSpPr>
          <p:cNvPr id="10" name="Text 6"/>
          <p:cNvSpPr/>
          <p:nvPr/>
        </p:nvSpPr>
        <p:spPr>
          <a:xfrm>
            <a:off x="5097145" y="2024380"/>
            <a:ext cx="5905500" cy="6731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 flipH="1">
            <a:off x="6279515" y="2126615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5097145" y="2864485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5097145" y="2864485"/>
            <a:ext cx="5905500" cy="6731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flipH="1">
            <a:off x="6279515" y="2966720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15" name="Shape 11"/>
          <p:cNvSpPr/>
          <p:nvPr/>
        </p:nvSpPr>
        <p:spPr>
          <a:xfrm>
            <a:off x="5097145" y="3704590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</p:spPr>
      </p:sp>
      <p:sp>
        <p:nvSpPr>
          <p:cNvPr id="16" name="Text 12"/>
          <p:cNvSpPr/>
          <p:nvPr/>
        </p:nvSpPr>
        <p:spPr>
          <a:xfrm>
            <a:off x="5097145" y="3704590"/>
            <a:ext cx="5905500" cy="6731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flipH="1">
            <a:off x="6279515" y="3806825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5097145" y="4544695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5097145" y="4544695"/>
            <a:ext cx="5905500" cy="6731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 flipH="1">
            <a:off x="6279515" y="4646930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21" name="Shape 17"/>
          <p:cNvSpPr/>
          <p:nvPr/>
        </p:nvSpPr>
        <p:spPr>
          <a:xfrm>
            <a:off x="5097145" y="5384800"/>
            <a:ext cx="5905500" cy="673100"/>
          </a:xfrm>
          <a:prstGeom prst="roundRect">
            <a:avLst>
              <a:gd name="adj" fmla="val 50000"/>
            </a:avLst>
          </a:prstGeom>
          <a:solidFill>
            <a:srgbClr val="EAFAFE">
              <a:alpha val="63137"/>
            </a:srgbClr>
          </a:solidFill>
        </p:spPr>
      </p:sp>
      <p:sp>
        <p:nvSpPr>
          <p:cNvPr id="22" name="Text 18"/>
          <p:cNvSpPr/>
          <p:nvPr/>
        </p:nvSpPr>
        <p:spPr>
          <a:xfrm>
            <a:off x="5097145" y="5384800"/>
            <a:ext cx="5905500" cy="6731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 flipH="1">
            <a:off x="6279515" y="5487035"/>
            <a:ext cx="12700" cy="467995"/>
          </a:xfrm>
          <a:prstGeom prst="line">
            <a:avLst/>
          </a:prstGeom>
          <a:noFill/>
          <a:ln w="19050">
            <a:solidFill>
              <a:srgbClr val="E1ADFD"/>
            </a:solidFill>
            <a:prstDash val="solid"/>
            <a:headEnd type="none"/>
            <a:tailEnd type="none"/>
          </a:ln>
        </p:spPr>
      </p:sp>
      <p:sp>
        <p:nvSpPr>
          <p:cNvPr id="24" name="Text 20"/>
          <p:cNvSpPr/>
          <p:nvPr/>
        </p:nvSpPr>
        <p:spPr>
          <a:xfrm>
            <a:off x="5281295" y="1229360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01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348095" y="1290955"/>
            <a:ext cx="55473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数据速览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281295" y="2069465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02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348095" y="2131060"/>
            <a:ext cx="55981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情感走势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5281295" y="2909570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03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348095" y="2971165"/>
            <a:ext cx="55473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焦点争议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5281295" y="3749675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04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348095" y="3811270"/>
            <a:ext cx="55981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正负反差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5281295" y="4589780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05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348095" y="4651375"/>
            <a:ext cx="55473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核心诉求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5281295" y="5429885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1ADFD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06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348095" y="5491480"/>
            <a:ext cx="55981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改进路线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3-d2t6aodnfo2stf9didqg.jpg"/>
          <p:cNvPicPr>
            <a:picLocks noChangeAspect="1"/>
          </p:cNvPicPr>
          <p:nvPr/>
        </p:nvPicPr>
        <p:blipFill>
          <a:blip r:embed="rId2"/>
          <a:srcRect t="3" b="3"/>
          <a:stretch>
            <a:fillRect/>
          </a:stretch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01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538289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数据速览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2501900"/>
            <a:ext cx="45974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B站51天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万条评论全景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3848100"/>
            <a:ext cx="4457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2025年10月5日 - 11月25日，采集有效评论10619条，覆盖7358位用户，为分析奠定坚实基础。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4927600" y="1955800"/>
            <a:ext cx="3403600" cy="1371600"/>
          </a:xfrm>
          <a:custGeom>
            <a:avLst/>
            <a:gdLst/>
            <a:ahLst/>
            <a:cxnLst/>
            <a:rect l="l" t="t" r="r" b="b"/>
            <a:pathLst>
              <a:path w="3403600" h="1371600">
                <a:moveTo>
                  <a:pt x="203203" y="0"/>
                </a:moveTo>
                <a:lnTo>
                  <a:pt x="3200397" y="0"/>
                </a:lnTo>
                <a:cubicBezTo>
                  <a:pt x="3312623" y="0"/>
                  <a:pt x="3403600" y="90977"/>
                  <a:pt x="3403600" y="203203"/>
                </a:cubicBezTo>
                <a:lnTo>
                  <a:pt x="3403600" y="1168397"/>
                </a:lnTo>
                <a:cubicBezTo>
                  <a:pt x="3403600" y="1280623"/>
                  <a:pt x="3312623" y="1371600"/>
                  <a:pt x="32003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8A75F5">
              <a:alpha val="66667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78727" y="2159000"/>
            <a:ext cx="22987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10,619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72200" y="28194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有效评论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534400" y="1955800"/>
            <a:ext cx="3403600" cy="1371600"/>
          </a:xfrm>
          <a:custGeom>
            <a:avLst/>
            <a:gdLst/>
            <a:ahLst/>
            <a:cxnLst/>
            <a:rect l="l" t="t" r="r" b="b"/>
            <a:pathLst>
              <a:path w="3403600" h="1371600">
                <a:moveTo>
                  <a:pt x="203203" y="0"/>
                </a:moveTo>
                <a:lnTo>
                  <a:pt x="3200397" y="0"/>
                </a:lnTo>
                <a:cubicBezTo>
                  <a:pt x="3312623" y="0"/>
                  <a:pt x="3403600" y="90977"/>
                  <a:pt x="3403600" y="203203"/>
                </a:cubicBezTo>
                <a:lnTo>
                  <a:pt x="3403600" y="1168397"/>
                </a:lnTo>
                <a:cubicBezTo>
                  <a:pt x="3403600" y="1280623"/>
                  <a:pt x="3312623" y="1371600"/>
                  <a:pt x="32003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8EB8F8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265312" y="2159000"/>
            <a:ext cx="19431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7,358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779000" y="28194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涉及用户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927600" y="3530600"/>
            <a:ext cx="3403600" cy="1371600"/>
          </a:xfrm>
          <a:custGeom>
            <a:avLst/>
            <a:gdLst/>
            <a:ahLst/>
            <a:cxnLst/>
            <a:rect l="l" t="t" r="r" b="b"/>
            <a:pathLst>
              <a:path w="3403600" h="1371600">
                <a:moveTo>
                  <a:pt x="203203" y="0"/>
                </a:moveTo>
                <a:lnTo>
                  <a:pt x="3200397" y="0"/>
                </a:lnTo>
                <a:cubicBezTo>
                  <a:pt x="3312623" y="0"/>
                  <a:pt x="3403600" y="90977"/>
                  <a:pt x="3403600" y="203203"/>
                </a:cubicBezTo>
                <a:lnTo>
                  <a:pt x="3403600" y="1168397"/>
                </a:lnTo>
                <a:cubicBezTo>
                  <a:pt x="3403600" y="1280623"/>
                  <a:pt x="3312623" y="1371600"/>
                  <a:pt x="32003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8EB8F8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117299" y="3733800"/>
            <a:ext cx="10287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51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172200" y="43942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数据天数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534400" y="3530600"/>
            <a:ext cx="3403600" cy="1371600"/>
          </a:xfrm>
          <a:custGeom>
            <a:avLst/>
            <a:gdLst/>
            <a:ahLst/>
            <a:cxnLst/>
            <a:rect l="l" t="t" r="r" b="b"/>
            <a:pathLst>
              <a:path w="3403600" h="1371600">
                <a:moveTo>
                  <a:pt x="203203" y="0"/>
                </a:moveTo>
                <a:lnTo>
                  <a:pt x="3200397" y="0"/>
                </a:lnTo>
                <a:cubicBezTo>
                  <a:pt x="3312623" y="0"/>
                  <a:pt x="3403600" y="90977"/>
                  <a:pt x="3403600" y="203203"/>
                </a:cubicBezTo>
                <a:lnTo>
                  <a:pt x="3403600" y="1168397"/>
                </a:lnTo>
                <a:cubicBezTo>
                  <a:pt x="3403600" y="1280623"/>
                  <a:pt x="3312623" y="1371600"/>
                  <a:pt x="3200397" y="1371600"/>
                </a:cubicBezTo>
                <a:lnTo>
                  <a:pt x="203203" y="1371600"/>
                </a:lnTo>
                <a:cubicBezTo>
                  <a:pt x="90977" y="1371600"/>
                  <a:pt x="0" y="1280623"/>
                  <a:pt x="0" y="11683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solidFill>
            <a:srgbClr val="8A75F5">
              <a:alpha val="66667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151673" y="3733800"/>
            <a:ext cx="21717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83.8%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779000" y="43942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保密用户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2159000"/>
            <a:ext cx="5664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改动话题渗透率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2768600"/>
            <a:ext cx="6045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8A8D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20.1%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54000" y="4089400"/>
            <a:ext cx="5537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2134条评论直接讨论游戏改动，每五条评论就有一条针对版本调整，玩家</a:t>
            </a:r>
            <a:r>
              <a:rPr lang="en-US" sz="1600" dirty="0">
                <a:solidFill>
                  <a:srgbClr val="3A3F6B"/>
                </a:solidFill>
                <a:highlight>
                  <a:srgbClr val="F8A8D8">
                    <a:alpha val="66700"/>
                  </a:srgbClr>
                </a:highlight>
                <a:latin typeface="Noto Sans SC" pitchFamily="34" charset="0"/>
                <a:ea typeface="Noto Sans SC" pitchFamily="34" charset="0"/>
                <a:cs typeface="Noto Sans SC" pitchFamily="34" charset="0"/>
              </a:rPr>
              <a:t> 敏感度极高 </a:t>
            </a: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，话题集中度极高。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096000" y="1701800"/>
            <a:ext cx="5842000" cy="1016000"/>
          </a:xfrm>
          <a:custGeom>
            <a:avLst/>
            <a:gdLst/>
            <a:ahLst/>
            <a:cxnLst/>
            <a:rect l="l" t="t" r="r" b="b"/>
            <a:pathLst>
              <a:path w="5842000" h="1016000">
                <a:moveTo>
                  <a:pt x="152400" y="0"/>
                </a:moveTo>
                <a:lnTo>
                  <a:pt x="5689600" y="0"/>
                </a:lnTo>
                <a:cubicBezTo>
                  <a:pt x="5773712" y="0"/>
                  <a:pt x="5842000" y="68288"/>
                  <a:pt x="5842000" y="152400"/>
                </a:cubicBezTo>
                <a:lnTo>
                  <a:pt x="5842000" y="863600"/>
                </a:lnTo>
                <a:cubicBezTo>
                  <a:pt x="5842000" y="947712"/>
                  <a:pt x="5773712" y="1016000"/>
                  <a:pt x="5689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A75F5">
              <a:alpha val="20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629920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A75F5">
              <a:alpha val="66667"/>
            </a:srgbClr>
          </a:solidFill>
        </p:spPr>
      </p:sp>
      <p:sp>
        <p:nvSpPr>
          <p:cNvPr id="9" name="Shape 5"/>
          <p:cNvSpPr/>
          <p:nvPr/>
        </p:nvSpPr>
        <p:spPr>
          <a:xfrm>
            <a:off x="6451600" y="205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0749" y="12918"/>
                </a:moveTo>
                <a:cubicBezTo>
                  <a:pt x="267712" y="-119"/>
                  <a:pt x="246638" y="-119"/>
                  <a:pt x="233601" y="12918"/>
                </a:cubicBezTo>
                <a:lnTo>
                  <a:pt x="219075" y="27444"/>
                </a:lnTo>
                <a:lnTo>
                  <a:pt x="277356" y="85725"/>
                </a:lnTo>
                <a:lnTo>
                  <a:pt x="291882" y="71199"/>
                </a:lnTo>
                <a:cubicBezTo>
                  <a:pt x="304919" y="58162"/>
                  <a:pt x="304919" y="37088"/>
                  <a:pt x="291882" y="24051"/>
                </a:cubicBezTo>
                <a:lnTo>
                  <a:pt x="280749" y="12918"/>
                </a:lnTo>
                <a:close/>
                <a:moveTo>
                  <a:pt x="102632" y="143887"/>
                </a:moveTo>
                <a:cubicBezTo>
                  <a:pt x="99000" y="147518"/>
                  <a:pt x="96203" y="151983"/>
                  <a:pt x="94595" y="156924"/>
                </a:cubicBezTo>
                <a:lnTo>
                  <a:pt x="76974" y="209788"/>
                </a:lnTo>
                <a:cubicBezTo>
                  <a:pt x="75248" y="214908"/>
                  <a:pt x="76617" y="220563"/>
                  <a:pt x="80427" y="224433"/>
                </a:cubicBezTo>
                <a:cubicBezTo>
                  <a:pt x="84237" y="228302"/>
                  <a:pt x="89892" y="229612"/>
                  <a:pt x="95071" y="227886"/>
                </a:cubicBezTo>
                <a:lnTo>
                  <a:pt x="147935" y="210264"/>
                </a:lnTo>
                <a:cubicBezTo>
                  <a:pt x="152817" y="208657"/>
                  <a:pt x="157282" y="205859"/>
                  <a:pt x="160973" y="202228"/>
                </a:cubicBezTo>
                <a:lnTo>
                  <a:pt x="257175" y="105906"/>
                </a:lnTo>
                <a:lnTo>
                  <a:pt x="198894" y="47625"/>
                </a:lnTo>
                <a:lnTo>
                  <a:pt x="102632" y="143887"/>
                </a:lnTo>
                <a:close/>
                <a:moveTo>
                  <a:pt x="57150" y="38100"/>
                </a:moveTo>
                <a:cubicBezTo>
                  <a:pt x="25598" y="38100"/>
                  <a:pt x="0" y="63698"/>
                  <a:pt x="0" y="95250"/>
                </a:cubicBezTo>
                <a:lnTo>
                  <a:pt x="0" y="247650"/>
                </a:lnTo>
                <a:cubicBezTo>
                  <a:pt x="0" y="279202"/>
                  <a:pt x="25598" y="304800"/>
                  <a:pt x="57150" y="304800"/>
                </a:cubicBezTo>
                <a:lnTo>
                  <a:pt x="209550" y="304800"/>
                </a:lnTo>
                <a:cubicBezTo>
                  <a:pt x="241102" y="304800"/>
                  <a:pt x="266700" y="279202"/>
                  <a:pt x="266700" y="247650"/>
                </a:cubicBezTo>
                <a:lnTo>
                  <a:pt x="266700" y="190500"/>
                </a:lnTo>
                <a:cubicBezTo>
                  <a:pt x="266700" y="179963"/>
                  <a:pt x="258187" y="171450"/>
                  <a:pt x="247650" y="171450"/>
                </a:cubicBezTo>
                <a:cubicBezTo>
                  <a:pt x="237113" y="171450"/>
                  <a:pt x="228600" y="179963"/>
                  <a:pt x="228600" y="190500"/>
                </a:cubicBezTo>
                <a:lnTo>
                  <a:pt x="228600" y="247650"/>
                </a:lnTo>
                <a:cubicBezTo>
                  <a:pt x="228600" y="258187"/>
                  <a:pt x="220087" y="266700"/>
                  <a:pt x="209550" y="266700"/>
                </a:cubicBezTo>
                <a:lnTo>
                  <a:pt x="57150" y="266700"/>
                </a:lnTo>
                <a:cubicBezTo>
                  <a:pt x="46613" y="266700"/>
                  <a:pt x="38100" y="258187"/>
                  <a:pt x="38100" y="247650"/>
                </a:cubicBezTo>
                <a:lnTo>
                  <a:pt x="38100" y="95250"/>
                </a:lnTo>
                <a:cubicBezTo>
                  <a:pt x="38100" y="84713"/>
                  <a:pt x="46613" y="76200"/>
                  <a:pt x="57150" y="76200"/>
                </a:cubicBezTo>
                <a:lnTo>
                  <a:pt x="114300" y="76200"/>
                </a:lnTo>
                <a:cubicBezTo>
                  <a:pt x="124837" y="76200"/>
                  <a:pt x="133350" y="67687"/>
                  <a:pt x="133350" y="57150"/>
                </a:cubicBezTo>
                <a:cubicBezTo>
                  <a:pt x="133350" y="46613"/>
                  <a:pt x="124837" y="38100"/>
                  <a:pt x="114300" y="38100"/>
                </a:cubicBezTo>
                <a:lnTo>
                  <a:pt x="57150" y="3810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6"/>
          <p:cNvSpPr/>
          <p:nvPr/>
        </p:nvSpPr>
        <p:spPr>
          <a:xfrm>
            <a:off x="7112000" y="1905000"/>
            <a:ext cx="1790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“改” (1958次)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112000" y="2260600"/>
            <a:ext cx="1765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改动相关最高频词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096000" y="2921000"/>
            <a:ext cx="5842000" cy="1016000"/>
          </a:xfrm>
          <a:custGeom>
            <a:avLst/>
            <a:gdLst/>
            <a:ahLst/>
            <a:cxnLst/>
            <a:rect l="l" t="t" r="r" b="b"/>
            <a:pathLst>
              <a:path w="5842000" h="1016000">
                <a:moveTo>
                  <a:pt x="152400" y="0"/>
                </a:moveTo>
                <a:lnTo>
                  <a:pt x="5689600" y="0"/>
                </a:lnTo>
                <a:cubicBezTo>
                  <a:pt x="5773712" y="0"/>
                  <a:pt x="5842000" y="68288"/>
                  <a:pt x="5842000" y="152400"/>
                </a:cubicBezTo>
                <a:lnTo>
                  <a:pt x="5842000" y="863600"/>
                </a:lnTo>
                <a:cubicBezTo>
                  <a:pt x="5842000" y="947712"/>
                  <a:pt x="5773712" y="1016000"/>
                  <a:pt x="5689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EB8F8">
              <a:alpha val="30196"/>
            </a:srgbClr>
          </a:solidFill>
        </p:spPr>
      </p:sp>
      <p:sp>
        <p:nvSpPr>
          <p:cNvPr id="13" name="Shape 9"/>
          <p:cNvSpPr/>
          <p:nvPr/>
        </p:nvSpPr>
        <p:spPr>
          <a:xfrm>
            <a:off x="6299200" y="3124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EB8F8"/>
          </a:solidFill>
        </p:spPr>
      </p:sp>
      <p:sp>
        <p:nvSpPr>
          <p:cNvPr id="14" name="Shape 10"/>
          <p:cNvSpPr/>
          <p:nvPr/>
        </p:nvSpPr>
        <p:spPr>
          <a:xfrm>
            <a:off x="6470650" y="3276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93923" y="147638"/>
                  <a:pt x="61913" y="115627"/>
                  <a:pt x="61912" y="76200"/>
                </a:cubicBezTo>
                <a:cubicBezTo>
                  <a:pt x="61912" y="36773"/>
                  <a:pt x="93923" y="4763"/>
                  <a:pt x="133350" y="4763"/>
                </a:cubicBezTo>
                <a:cubicBezTo>
                  <a:pt x="172777" y="4763"/>
                  <a:pt x="204787" y="36773"/>
                  <a:pt x="204787" y="76200"/>
                </a:cubicBezTo>
                <a:cubicBezTo>
                  <a:pt x="204787" y="115627"/>
                  <a:pt x="172777" y="147638"/>
                  <a:pt x="133350" y="147638"/>
                </a:cubicBezTo>
                <a:close/>
                <a:moveTo>
                  <a:pt x="115193" y="180975"/>
                </a:moveTo>
                <a:lnTo>
                  <a:pt x="151507" y="180975"/>
                </a:lnTo>
                <a:cubicBezTo>
                  <a:pt x="157282" y="180975"/>
                  <a:pt x="161925" y="185618"/>
                  <a:pt x="161925" y="191393"/>
                </a:cubicBezTo>
                <a:cubicBezTo>
                  <a:pt x="161925" y="193893"/>
                  <a:pt x="161032" y="196275"/>
                  <a:pt x="159425" y="198180"/>
                </a:cubicBezTo>
                <a:lnTo>
                  <a:pt x="143113" y="217230"/>
                </a:lnTo>
                <a:lnTo>
                  <a:pt x="161568" y="285750"/>
                </a:lnTo>
                <a:lnTo>
                  <a:pt x="161925" y="285750"/>
                </a:lnTo>
                <a:lnTo>
                  <a:pt x="182523" y="203299"/>
                </a:lnTo>
                <a:cubicBezTo>
                  <a:pt x="183833" y="198120"/>
                  <a:pt x="189131" y="194965"/>
                  <a:pt x="194131" y="196870"/>
                </a:cubicBezTo>
                <a:cubicBezTo>
                  <a:pt x="230981" y="210919"/>
                  <a:pt x="257175" y="246638"/>
                  <a:pt x="257175" y="288429"/>
                </a:cubicBezTo>
                <a:cubicBezTo>
                  <a:pt x="257175" y="297418"/>
                  <a:pt x="249853" y="304740"/>
                  <a:pt x="240863" y="304740"/>
                </a:cubicBezTo>
                <a:lnTo>
                  <a:pt x="25837" y="304800"/>
                </a:lnTo>
                <a:cubicBezTo>
                  <a:pt x="16847" y="304800"/>
                  <a:pt x="9525" y="297478"/>
                  <a:pt x="9525" y="288488"/>
                </a:cubicBezTo>
                <a:cubicBezTo>
                  <a:pt x="9525" y="246698"/>
                  <a:pt x="35719" y="210979"/>
                  <a:pt x="72569" y="196929"/>
                </a:cubicBezTo>
                <a:cubicBezTo>
                  <a:pt x="77569" y="195024"/>
                  <a:pt x="82868" y="198180"/>
                  <a:pt x="84177" y="203359"/>
                </a:cubicBezTo>
                <a:lnTo>
                  <a:pt x="104775" y="285810"/>
                </a:lnTo>
                <a:lnTo>
                  <a:pt x="105132" y="285810"/>
                </a:lnTo>
                <a:lnTo>
                  <a:pt x="123587" y="217289"/>
                </a:lnTo>
                <a:lnTo>
                  <a:pt x="107275" y="198239"/>
                </a:lnTo>
                <a:cubicBezTo>
                  <a:pt x="105668" y="196334"/>
                  <a:pt x="104775" y="193953"/>
                  <a:pt x="104775" y="191453"/>
                </a:cubicBezTo>
                <a:cubicBezTo>
                  <a:pt x="104775" y="185678"/>
                  <a:pt x="109418" y="181035"/>
                  <a:pt x="115193" y="18103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1"/>
          <p:cNvSpPr/>
          <p:nvPr/>
        </p:nvSpPr>
        <p:spPr>
          <a:xfrm>
            <a:off x="7112000" y="3124200"/>
            <a:ext cx="2019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“策划” (1827次)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112000" y="3479800"/>
            <a:ext cx="199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玩家直接指向策划团队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96000" y="4140200"/>
            <a:ext cx="5842000" cy="1016000"/>
          </a:xfrm>
          <a:custGeom>
            <a:avLst/>
            <a:gdLst/>
            <a:ahLst/>
            <a:cxnLst/>
            <a:rect l="l" t="t" r="r" b="b"/>
            <a:pathLst>
              <a:path w="5842000" h="1016000">
                <a:moveTo>
                  <a:pt x="152400" y="0"/>
                </a:moveTo>
                <a:lnTo>
                  <a:pt x="5689600" y="0"/>
                </a:lnTo>
                <a:cubicBezTo>
                  <a:pt x="5773712" y="0"/>
                  <a:pt x="5842000" y="68288"/>
                  <a:pt x="5842000" y="152400"/>
                </a:cubicBezTo>
                <a:lnTo>
                  <a:pt x="5842000" y="863600"/>
                </a:lnTo>
                <a:cubicBezTo>
                  <a:pt x="5842000" y="947712"/>
                  <a:pt x="5773712" y="1016000"/>
                  <a:pt x="5689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8A8D8">
              <a:alpha val="30196"/>
            </a:srgbClr>
          </a:solidFill>
        </p:spPr>
      </p:sp>
      <p:sp>
        <p:nvSpPr>
          <p:cNvPr id="18" name="Shape 14"/>
          <p:cNvSpPr/>
          <p:nvPr/>
        </p:nvSpPr>
        <p:spPr>
          <a:xfrm>
            <a:off x="6299200" y="434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8A8D8"/>
          </a:solidFill>
        </p:spPr>
      </p:sp>
      <p:sp>
        <p:nvSpPr>
          <p:cNvPr id="19" name="Shape 15"/>
          <p:cNvSpPr/>
          <p:nvPr/>
        </p:nvSpPr>
        <p:spPr>
          <a:xfrm>
            <a:off x="6451600" y="449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1393" y="40957"/>
                </a:moveTo>
                <a:cubicBezTo>
                  <a:pt x="195917" y="33278"/>
                  <a:pt x="204133" y="28575"/>
                  <a:pt x="213003" y="28575"/>
                </a:cubicBezTo>
                <a:lnTo>
                  <a:pt x="214313" y="28575"/>
                </a:lnTo>
                <a:cubicBezTo>
                  <a:pt x="227469" y="28575"/>
                  <a:pt x="238125" y="39231"/>
                  <a:pt x="238125" y="52388"/>
                </a:cubicBezTo>
                <a:cubicBezTo>
                  <a:pt x="238125" y="65544"/>
                  <a:pt x="227469" y="76200"/>
                  <a:pt x="214313" y="76200"/>
                </a:cubicBezTo>
                <a:lnTo>
                  <a:pt x="170676" y="76200"/>
                </a:lnTo>
                <a:lnTo>
                  <a:pt x="191393" y="40957"/>
                </a:lnTo>
                <a:close/>
                <a:moveTo>
                  <a:pt x="113407" y="40957"/>
                </a:moveTo>
                <a:lnTo>
                  <a:pt x="134124" y="76200"/>
                </a:lnTo>
                <a:lnTo>
                  <a:pt x="90488" y="76200"/>
                </a:lnTo>
                <a:cubicBezTo>
                  <a:pt x="77331" y="76200"/>
                  <a:pt x="66675" y="65544"/>
                  <a:pt x="66675" y="52388"/>
                </a:cubicBezTo>
                <a:cubicBezTo>
                  <a:pt x="66675" y="39231"/>
                  <a:pt x="77331" y="28575"/>
                  <a:pt x="90488" y="28575"/>
                </a:cubicBezTo>
                <a:lnTo>
                  <a:pt x="91797" y="28575"/>
                </a:lnTo>
                <a:cubicBezTo>
                  <a:pt x="100667" y="28575"/>
                  <a:pt x="108942" y="33278"/>
                  <a:pt x="113407" y="40957"/>
                </a:cubicBezTo>
                <a:close/>
                <a:moveTo>
                  <a:pt x="166747" y="26491"/>
                </a:moveTo>
                <a:lnTo>
                  <a:pt x="152400" y="50899"/>
                </a:lnTo>
                <a:lnTo>
                  <a:pt x="138053" y="26491"/>
                </a:lnTo>
                <a:cubicBezTo>
                  <a:pt x="128409" y="10061"/>
                  <a:pt x="110788" y="0"/>
                  <a:pt x="91797" y="0"/>
                </a:cubicBezTo>
                <a:lnTo>
                  <a:pt x="90488" y="0"/>
                </a:lnTo>
                <a:cubicBezTo>
                  <a:pt x="61555" y="0"/>
                  <a:pt x="38100" y="23455"/>
                  <a:pt x="38100" y="52388"/>
                </a:cubicBezTo>
                <a:cubicBezTo>
                  <a:pt x="38100" y="60960"/>
                  <a:pt x="40184" y="69056"/>
                  <a:pt x="43815" y="76200"/>
                </a:cubicBezTo>
                <a:lnTo>
                  <a:pt x="19050" y="76200"/>
                </a:lnTo>
                <a:cubicBezTo>
                  <a:pt x="8513" y="76200"/>
                  <a:pt x="0" y="84713"/>
                  <a:pt x="0" y="95250"/>
                </a:cubicBezTo>
                <a:lnTo>
                  <a:pt x="0" y="114300"/>
                </a:lnTo>
                <a:cubicBezTo>
                  <a:pt x="0" y="124837"/>
                  <a:pt x="8513" y="133350"/>
                  <a:pt x="19050" y="133350"/>
                </a:cubicBezTo>
                <a:lnTo>
                  <a:pt x="285750" y="133350"/>
                </a:lnTo>
                <a:cubicBezTo>
                  <a:pt x="296287" y="133350"/>
                  <a:pt x="304800" y="124837"/>
                  <a:pt x="304800" y="114300"/>
                </a:cubicBezTo>
                <a:lnTo>
                  <a:pt x="304800" y="95250"/>
                </a:lnTo>
                <a:cubicBezTo>
                  <a:pt x="304800" y="84713"/>
                  <a:pt x="296287" y="76200"/>
                  <a:pt x="285750" y="76200"/>
                </a:cubicBezTo>
                <a:lnTo>
                  <a:pt x="260985" y="76200"/>
                </a:lnTo>
                <a:cubicBezTo>
                  <a:pt x="264616" y="69056"/>
                  <a:pt x="266700" y="60960"/>
                  <a:pt x="266700" y="52388"/>
                </a:cubicBezTo>
                <a:cubicBezTo>
                  <a:pt x="266700" y="23455"/>
                  <a:pt x="243245" y="0"/>
                  <a:pt x="214313" y="0"/>
                </a:cubicBezTo>
                <a:lnTo>
                  <a:pt x="213003" y="0"/>
                </a:lnTo>
                <a:cubicBezTo>
                  <a:pt x="194012" y="0"/>
                  <a:pt x="176391" y="10061"/>
                  <a:pt x="166747" y="26432"/>
                </a:cubicBezTo>
                <a:close/>
                <a:moveTo>
                  <a:pt x="285750" y="161925"/>
                </a:moveTo>
                <a:lnTo>
                  <a:pt x="166688" y="161925"/>
                </a:lnTo>
                <a:lnTo>
                  <a:pt x="166688" y="285750"/>
                </a:lnTo>
                <a:lnTo>
                  <a:pt x="247650" y="285750"/>
                </a:lnTo>
                <a:cubicBezTo>
                  <a:pt x="268665" y="285750"/>
                  <a:pt x="285750" y="268665"/>
                  <a:pt x="285750" y="247650"/>
                </a:cubicBezTo>
                <a:lnTo>
                  <a:pt x="285750" y="161925"/>
                </a:lnTo>
                <a:close/>
                <a:moveTo>
                  <a:pt x="138113" y="161925"/>
                </a:moveTo>
                <a:lnTo>
                  <a:pt x="19050" y="161925"/>
                </a:lnTo>
                <a:lnTo>
                  <a:pt x="19050" y="247650"/>
                </a:lnTo>
                <a:cubicBezTo>
                  <a:pt x="19050" y="268665"/>
                  <a:pt x="36135" y="285750"/>
                  <a:pt x="57150" y="285750"/>
                </a:cubicBezTo>
                <a:lnTo>
                  <a:pt x="138113" y="285750"/>
                </a:lnTo>
                <a:lnTo>
                  <a:pt x="138113" y="16192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16"/>
          <p:cNvSpPr/>
          <p:nvPr/>
        </p:nvSpPr>
        <p:spPr>
          <a:xfrm>
            <a:off x="7112000" y="4343400"/>
            <a:ext cx="1892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“补偿” (939次)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112000" y="4699000"/>
            <a:ext cx="186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玩家对回馈机制的期待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3-d2t6aodnfo2stf9didqg.jpg"/>
          <p:cNvPicPr>
            <a:picLocks noChangeAspect="1"/>
          </p:cNvPicPr>
          <p:nvPr/>
        </p:nvPicPr>
        <p:blipFill>
          <a:blip r:embed="rId2"/>
          <a:srcRect t="3" b="3"/>
          <a:stretch>
            <a:fillRect/>
          </a:stretch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02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538289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情感走势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280" y="0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15494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满意度与参与度双下滑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00050" y="2565400"/>
            <a:ext cx="438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2025年9月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02945" y="3022600"/>
            <a:ext cx="452374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8EB8F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21.45%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06400" y="3886200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正面评论占比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81000" y="4394200"/>
            <a:ext cx="4419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10,133条评论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06400" y="4800600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平均情感分数: 0.441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53100" y="3175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331708"/>
                </a:moveTo>
                <a:cubicBezTo>
                  <a:pt x="689491" y="316825"/>
                  <a:pt x="689491" y="292656"/>
                  <a:pt x="674608" y="277773"/>
                </a:cubicBezTo>
                <a:lnTo>
                  <a:pt x="522208" y="125373"/>
                </a:lnTo>
                <a:cubicBezTo>
                  <a:pt x="507325" y="110490"/>
                  <a:pt x="483156" y="110490"/>
                  <a:pt x="468273" y="125373"/>
                </a:cubicBezTo>
                <a:cubicBezTo>
                  <a:pt x="453390" y="140256"/>
                  <a:pt x="453390" y="164425"/>
                  <a:pt x="468273" y="179308"/>
                </a:cubicBezTo>
                <a:lnTo>
                  <a:pt x="5556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555665" y="342900"/>
                </a:lnTo>
                <a:lnTo>
                  <a:pt x="468273" y="430292"/>
                </a:lnTo>
                <a:cubicBezTo>
                  <a:pt x="453390" y="445175"/>
                  <a:pt x="453390" y="469344"/>
                  <a:pt x="468273" y="484227"/>
                </a:cubicBezTo>
                <a:cubicBezTo>
                  <a:pt x="483156" y="499110"/>
                  <a:pt x="507325" y="499110"/>
                  <a:pt x="522208" y="484227"/>
                </a:cubicBezTo>
                <a:lnTo>
                  <a:pt x="674608" y="331827"/>
                </a:lnTo>
                <a:close/>
              </a:path>
            </a:pathLst>
          </a:custGeom>
          <a:solidFill>
            <a:srgbClr val="F8A8D8"/>
          </a:solidFill>
        </p:spPr>
      </p:sp>
      <p:sp>
        <p:nvSpPr>
          <p:cNvPr id="11" name="Text 7"/>
          <p:cNvSpPr/>
          <p:nvPr/>
        </p:nvSpPr>
        <p:spPr>
          <a:xfrm>
            <a:off x="5581650" y="38862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A8D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一个月后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559028" y="4241800"/>
            <a:ext cx="1079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A8D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(降幅95.2%)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264400" y="2362200"/>
            <a:ext cx="4673600" cy="2946400"/>
          </a:xfrm>
          <a:custGeom>
            <a:avLst/>
            <a:gdLst/>
            <a:ahLst/>
            <a:cxnLst/>
            <a:rect l="l" t="t" r="r" b="b"/>
            <a:pathLst>
              <a:path w="4673600" h="2946400">
                <a:moveTo>
                  <a:pt x="203213" y="0"/>
                </a:moveTo>
                <a:lnTo>
                  <a:pt x="4470387" y="0"/>
                </a:lnTo>
                <a:cubicBezTo>
                  <a:pt x="4582618" y="0"/>
                  <a:pt x="4673600" y="90982"/>
                  <a:pt x="4673600" y="203213"/>
                </a:cubicBezTo>
                <a:lnTo>
                  <a:pt x="4673600" y="2743187"/>
                </a:lnTo>
                <a:cubicBezTo>
                  <a:pt x="4673600" y="2855418"/>
                  <a:pt x="4582618" y="2946400"/>
                  <a:pt x="4470387" y="2946400"/>
                </a:cubicBezTo>
                <a:lnTo>
                  <a:pt x="203213" y="2946400"/>
                </a:lnTo>
                <a:cubicBezTo>
                  <a:pt x="90982" y="2946400"/>
                  <a:pt x="0" y="2855418"/>
                  <a:pt x="0" y="2743187"/>
                </a:cubicBezTo>
                <a:lnTo>
                  <a:pt x="0" y="203213"/>
                </a:lnTo>
                <a:cubicBezTo>
                  <a:pt x="0" y="91057"/>
                  <a:pt x="91057" y="0"/>
                  <a:pt x="203213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</p:spPr>
      </p:sp>
      <p:sp>
        <p:nvSpPr>
          <p:cNvPr id="14" name="Text 10"/>
          <p:cNvSpPr/>
          <p:nvPr/>
        </p:nvSpPr>
        <p:spPr>
          <a:xfrm>
            <a:off x="7410450" y="2565400"/>
            <a:ext cx="438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2025年10月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89800" y="3048000"/>
            <a:ext cx="46482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F8A8D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10.70%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416800" y="3886200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正面评论占比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391400" y="4394200"/>
            <a:ext cx="4419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486条评论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416800" y="4800600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平均情感分数: 0.213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51435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改动评论 vs 整体评论：情绪更分化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38200" y="1828800"/>
            <a:ext cx="4673600" cy="3556000"/>
          </a:xfrm>
          <a:custGeom>
            <a:avLst/>
            <a:gdLst/>
            <a:ahLst/>
            <a:cxnLst/>
            <a:rect l="l" t="t" r="r" b="b"/>
            <a:pathLst>
              <a:path w="4673600" h="3556000">
                <a:moveTo>
                  <a:pt x="203190" y="0"/>
                </a:moveTo>
                <a:lnTo>
                  <a:pt x="4470410" y="0"/>
                </a:lnTo>
                <a:cubicBezTo>
                  <a:pt x="4582629" y="0"/>
                  <a:pt x="4673600" y="90971"/>
                  <a:pt x="4673600" y="203190"/>
                </a:cubicBezTo>
                <a:lnTo>
                  <a:pt x="4673600" y="3352810"/>
                </a:lnTo>
                <a:cubicBezTo>
                  <a:pt x="4673600" y="3465029"/>
                  <a:pt x="4582629" y="3556000"/>
                  <a:pt x="4470410" y="3556000"/>
                </a:cubicBezTo>
                <a:lnTo>
                  <a:pt x="203190" y="3556000"/>
                </a:lnTo>
                <a:cubicBezTo>
                  <a:pt x="90971" y="3556000"/>
                  <a:pt x="0" y="3465029"/>
                  <a:pt x="0" y="3352810"/>
                </a:cubicBezTo>
                <a:lnTo>
                  <a:pt x="0" y="203190"/>
                </a:lnTo>
                <a:cubicBezTo>
                  <a:pt x="0" y="91046"/>
                  <a:pt x="91046" y="0"/>
                  <a:pt x="203190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</p:spPr>
      </p:sp>
      <p:sp>
        <p:nvSpPr>
          <p:cNvPr id="6" name="Text 2"/>
          <p:cNvSpPr/>
          <p:nvPr/>
        </p:nvSpPr>
        <p:spPr>
          <a:xfrm>
            <a:off x="2260600" y="2032000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整体评论情感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84250" y="2641600"/>
            <a:ext cx="43815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8EB8F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60.53%</a:t>
            </a:r>
            <a:r>
              <a:rPr lang="en-US" sz="18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 中性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84250" y="3217334"/>
            <a:ext cx="43815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8A75F5">
                    <a:alpha val="66700"/>
                  </a:srgbClr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20.96%</a:t>
            </a:r>
            <a:r>
              <a:rPr lang="en-US" sz="18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 正面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84250" y="3793068"/>
            <a:ext cx="43815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8A8D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18.51%</a:t>
            </a:r>
            <a:r>
              <a:rPr lang="en-US" sz="18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 负面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680200" y="1828800"/>
            <a:ext cx="4673600" cy="3556000"/>
          </a:xfrm>
          <a:custGeom>
            <a:avLst/>
            <a:gdLst/>
            <a:ahLst/>
            <a:cxnLst/>
            <a:rect l="l" t="t" r="r" b="b"/>
            <a:pathLst>
              <a:path w="4673600" h="3556000">
                <a:moveTo>
                  <a:pt x="203190" y="0"/>
                </a:moveTo>
                <a:lnTo>
                  <a:pt x="4470410" y="0"/>
                </a:lnTo>
                <a:cubicBezTo>
                  <a:pt x="4582629" y="0"/>
                  <a:pt x="4673600" y="90971"/>
                  <a:pt x="4673600" y="203190"/>
                </a:cubicBezTo>
                <a:lnTo>
                  <a:pt x="4673600" y="3352810"/>
                </a:lnTo>
                <a:cubicBezTo>
                  <a:pt x="4673600" y="3465029"/>
                  <a:pt x="4582629" y="3556000"/>
                  <a:pt x="4470410" y="3556000"/>
                </a:cubicBezTo>
                <a:lnTo>
                  <a:pt x="203190" y="3556000"/>
                </a:lnTo>
                <a:cubicBezTo>
                  <a:pt x="90971" y="3556000"/>
                  <a:pt x="0" y="3465029"/>
                  <a:pt x="0" y="3352810"/>
                </a:cubicBezTo>
                <a:lnTo>
                  <a:pt x="0" y="203190"/>
                </a:lnTo>
                <a:cubicBezTo>
                  <a:pt x="0" y="91046"/>
                  <a:pt x="91046" y="0"/>
                  <a:pt x="203190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</p:spPr>
      </p:sp>
      <p:sp>
        <p:nvSpPr>
          <p:cNvPr id="11" name="Text 7"/>
          <p:cNvSpPr/>
          <p:nvPr/>
        </p:nvSpPr>
        <p:spPr>
          <a:xfrm>
            <a:off x="7797800" y="2032000"/>
            <a:ext cx="2590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改动相关评论情感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826250" y="2641600"/>
            <a:ext cx="43815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8EB8F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51.84%</a:t>
            </a:r>
            <a:r>
              <a:rPr lang="en-US" sz="18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 中性 </a:t>
            </a:r>
            <a:r>
              <a:rPr lang="en-US" sz="1800" b="1" dirty="0">
                <a:solidFill>
                  <a:srgbClr val="FB2C36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-12.69%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826250" y="3217334"/>
            <a:ext cx="43815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8A75F5">
                    <a:alpha val="66700"/>
                  </a:srgbClr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27.46%</a:t>
            </a:r>
            <a:r>
              <a:rPr lang="en-US" sz="18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 正面 </a:t>
            </a:r>
            <a:r>
              <a:rPr lang="en-US" sz="1800" b="1" dirty="0">
                <a:solidFill>
                  <a:srgbClr val="00C95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+6.50%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826250" y="3793068"/>
            <a:ext cx="43815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8A8D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20.70%</a:t>
            </a:r>
            <a:r>
              <a:rPr lang="en-US" sz="18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 负面 </a:t>
            </a:r>
            <a:r>
              <a:rPr lang="en-US" sz="1800" b="1" dirty="0">
                <a:solidFill>
                  <a:srgbClr val="FB2C36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+6.19%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09550" y="608965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改动话题将观望玩家推向两极，</a:t>
            </a:r>
            <a:r>
              <a:rPr lang="en-US" sz="1400" dirty="0">
                <a:solidFill>
                  <a:srgbClr val="3A3F6B"/>
                </a:solidFill>
                <a:highlight>
                  <a:srgbClr val="F8A8D8">
                    <a:alpha val="66700"/>
                  </a:srgbClr>
                </a:highlight>
                <a:latin typeface="Noto Sans SC" pitchFamily="34" charset="0"/>
                <a:ea typeface="Noto Sans SC" pitchFamily="34" charset="0"/>
                <a:cs typeface="Noto Sans SC" pitchFamily="34" charset="0"/>
              </a:rPr>
              <a:t> 中立缓冲带被严重压缩 </a:t>
            </a: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94081" y="1720772"/>
            <a:ext cx="8735450" cy="3899272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数据分析汇总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1. **时间维度变化**: 10月份正面评论占比(10.70%)较9月份(21.45%)显著下降，情感分数从0.441降至0.213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2. **关注度变化**: 10月份评论数量从10133条大幅减少至486条，降幅达95.2%，反映玩家关注度和参与度明显下降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3. **加权情感分析**: 考虑点赞数后的加权情感分数同样下降，说明高关注度评论的情感倾向更趋负面，玩家对改动的不满情绪具有较强的代表性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3-d2t6aodnfo2stf9didqg.jpg"/>
          <p:cNvPicPr>
            <a:picLocks noChangeAspect="1"/>
          </p:cNvPicPr>
          <p:nvPr/>
        </p:nvPicPr>
        <p:blipFill>
          <a:blip r:embed="rId2"/>
          <a:srcRect t="3" b="3"/>
          <a:stretch>
            <a:fillRect/>
          </a:stretch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03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538289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焦点争议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1212850"/>
            <a:ext cx="57658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风评逆转的导火索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1885950"/>
            <a:ext cx="5727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8A8D8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撤离点限五人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54000" y="2546350"/>
            <a:ext cx="563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玩家批评该改动破坏战术自由度，加剧排队焦虑。评论中</a:t>
            </a:r>
            <a:r>
              <a:rPr lang="en-US" sz="1600" dirty="0">
                <a:solidFill>
                  <a:srgbClr val="3A3F6B"/>
                </a:solidFill>
                <a:highlight>
                  <a:srgbClr val="F8A8D8">
                    <a:alpha val="66700"/>
                  </a:srgbClr>
                </a:highlight>
                <a:latin typeface="Noto Sans SC" pitchFamily="34" charset="0"/>
                <a:ea typeface="Noto Sans SC" pitchFamily="34" charset="0"/>
                <a:cs typeface="Noto Sans SC" pitchFamily="34" charset="0"/>
              </a:rPr>
              <a:t> “策划脑子呢” </a:t>
            </a: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等高频质问，成为负面情绪爆发的核心，直接拉低整体情感得分。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254000" y="3765550"/>
            <a:ext cx="5537200" cy="1879600"/>
          </a:xfrm>
          <a:custGeom>
            <a:avLst/>
            <a:gdLst/>
            <a:ahLst/>
            <a:cxnLst/>
            <a:rect l="l" t="t" r="r" b="b"/>
            <a:pathLst>
              <a:path w="5537200" h="1879600">
                <a:moveTo>
                  <a:pt x="101592" y="0"/>
                </a:moveTo>
                <a:lnTo>
                  <a:pt x="5435608" y="0"/>
                </a:lnTo>
                <a:cubicBezTo>
                  <a:pt x="5491716" y="0"/>
                  <a:pt x="5537200" y="45484"/>
                  <a:pt x="5537200" y="101592"/>
                </a:cubicBezTo>
                <a:lnTo>
                  <a:pt x="5537200" y="1778008"/>
                </a:lnTo>
                <a:cubicBezTo>
                  <a:pt x="5537200" y="1834116"/>
                  <a:pt x="5491716" y="1879600"/>
                  <a:pt x="54356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457200" y="3968750"/>
            <a:ext cx="5245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玩家核心质疑: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4425950"/>
            <a:ext cx="52324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破坏战术自由度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加剧匹配排队焦虑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改动缺乏合理解释</a:t>
            </a:r>
            <a:endParaRPr lang="en-US" sz="1600" dirty="0"/>
          </a:p>
        </p:txBody>
      </p:sp>
      <p:pic>
        <p:nvPicPr>
          <p:cNvPr id="10" name="Image 2" descr="https://kimi-img.moonshot.cn/pub/slides/25-12-18-18:02:22-d51t2bnpma9mqingttlg.png"/>
          <p:cNvPicPr>
            <a:picLocks noChangeAspect="1"/>
          </p:cNvPicPr>
          <p:nvPr/>
        </p:nvPicPr>
        <p:blipFill>
          <a:blip r:embed="rId3"/>
          <a:srcRect l="21858" r="23497" b="3846"/>
          <a:stretch>
            <a:fillRect/>
          </a:stretch>
        </p:blipFill>
        <p:spPr>
          <a:xfrm>
            <a:off x="6169637" y="0"/>
            <a:ext cx="6022363" cy="66046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12954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平衡、削弱、补偿：玩家的核心三连问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1591733" y="2362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A75F5">
              <a:alpha val="20000"/>
            </a:srgbClr>
          </a:solidFill>
        </p:spPr>
      </p:sp>
      <p:sp>
        <p:nvSpPr>
          <p:cNvPr id="6" name="Shape 2"/>
          <p:cNvSpPr/>
          <p:nvPr/>
        </p:nvSpPr>
        <p:spPr>
          <a:xfrm>
            <a:off x="1820333" y="2667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140732" y="74295"/>
                </a:moveTo>
                <a:cubicBezTo>
                  <a:pt x="120848" y="67628"/>
                  <a:pt x="110014" y="45958"/>
                  <a:pt x="116681" y="26075"/>
                </a:cubicBezTo>
                <a:cubicBezTo>
                  <a:pt x="123349" y="6191"/>
                  <a:pt x="144899" y="-4643"/>
                  <a:pt x="164902" y="1905"/>
                </a:cubicBezTo>
                <a:lnTo>
                  <a:pt x="299442" y="46792"/>
                </a:lnTo>
                <a:cubicBezTo>
                  <a:pt x="315992" y="18812"/>
                  <a:pt x="346591" y="0"/>
                  <a:pt x="381476" y="0"/>
                </a:cubicBezTo>
                <a:cubicBezTo>
                  <a:pt x="434102" y="0"/>
                  <a:pt x="476726" y="42624"/>
                  <a:pt x="476726" y="95250"/>
                </a:cubicBezTo>
                <a:cubicBezTo>
                  <a:pt x="476726" y="98822"/>
                  <a:pt x="476488" y="102275"/>
                  <a:pt x="476131" y="105728"/>
                </a:cubicBezTo>
                <a:lnTo>
                  <a:pt x="622102" y="154424"/>
                </a:lnTo>
                <a:cubicBezTo>
                  <a:pt x="642104" y="161092"/>
                  <a:pt x="652820" y="182642"/>
                  <a:pt x="646152" y="202644"/>
                </a:cubicBezTo>
                <a:cubicBezTo>
                  <a:pt x="639485" y="222647"/>
                  <a:pt x="617934" y="233363"/>
                  <a:pt x="597932" y="226695"/>
                </a:cubicBezTo>
                <a:lnTo>
                  <a:pt x="436602" y="172879"/>
                </a:lnTo>
                <a:cubicBezTo>
                  <a:pt x="431244" y="176689"/>
                  <a:pt x="425529" y="179903"/>
                  <a:pt x="419457" y="182642"/>
                </a:cubicBezTo>
                <a:lnTo>
                  <a:pt x="419457" y="571619"/>
                </a:lnTo>
                <a:cubicBezTo>
                  <a:pt x="419457" y="592693"/>
                  <a:pt x="402431" y="609719"/>
                  <a:pt x="381357" y="609719"/>
                </a:cubicBezTo>
                <a:lnTo>
                  <a:pt x="152757" y="609719"/>
                </a:lnTo>
                <a:cubicBezTo>
                  <a:pt x="131683" y="609719"/>
                  <a:pt x="114657" y="592693"/>
                  <a:pt x="114657" y="571619"/>
                </a:cubicBezTo>
                <a:cubicBezTo>
                  <a:pt x="114657" y="550545"/>
                  <a:pt x="131683" y="533519"/>
                  <a:pt x="152757" y="533519"/>
                </a:cubicBezTo>
                <a:lnTo>
                  <a:pt x="343257" y="533519"/>
                </a:lnTo>
                <a:lnTo>
                  <a:pt x="343257" y="182642"/>
                </a:lnTo>
                <a:cubicBezTo>
                  <a:pt x="318254" y="171688"/>
                  <a:pt x="298966" y="150495"/>
                  <a:pt x="290632" y="124301"/>
                </a:cubicBezTo>
                <a:lnTo>
                  <a:pt x="140732" y="74295"/>
                </a:lnTo>
                <a:close/>
                <a:moveTo>
                  <a:pt x="239078" y="342900"/>
                </a:moveTo>
                <a:lnTo>
                  <a:pt x="152757" y="195024"/>
                </a:lnTo>
                <a:lnTo>
                  <a:pt x="66556" y="342900"/>
                </a:lnTo>
                <a:lnTo>
                  <a:pt x="239078" y="342900"/>
                </a:lnTo>
                <a:close/>
                <a:moveTo>
                  <a:pt x="152876" y="457200"/>
                </a:moveTo>
                <a:cubicBezTo>
                  <a:pt x="77986" y="457200"/>
                  <a:pt x="15716" y="416719"/>
                  <a:pt x="2858" y="363260"/>
                </a:cubicBezTo>
                <a:cubicBezTo>
                  <a:pt x="-238" y="350163"/>
                  <a:pt x="4048" y="336709"/>
                  <a:pt x="10835" y="325041"/>
                </a:cubicBezTo>
                <a:lnTo>
                  <a:pt x="124182" y="130731"/>
                </a:lnTo>
                <a:cubicBezTo>
                  <a:pt x="130135" y="120491"/>
                  <a:pt x="141089" y="114300"/>
                  <a:pt x="152876" y="114300"/>
                </a:cubicBezTo>
                <a:cubicBezTo>
                  <a:pt x="164663" y="114300"/>
                  <a:pt x="175617" y="120610"/>
                  <a:pt x="181570" y="130731"/>
                </a:cubicBezTo>
                <a:lnTo>
                  <a:pt x="294918" y="325041"/>
                </a:lnTo>
                <a:cubicBezTo>
                  <a:pt x="301704" y="336709"/>
                  <a:pt x="305991" y="350163"/>
                  <a:pt x="302895" y="363260"/>
                </a:cubicBezTo>
                <a:cubicBezTo>
                  <a:pt x="290036" y="416600"/>
                  <a:pt x="227767" y="457200"/>
                  <a:pt x="152876" y="457200"/>
                </a:cubicBezTo>
                <a:close/>
                <a:moveTo>
                  <a:pt x="608648" y="347424"/>
                </a:moveTo>
                <a:lnTo>
                  <a:pt x="522446" y="495300"/>
                </a:lnTo>
                <a:lnTo>
                  <a:pt x="694968" y="495300"/>
                </a:lnTo>
                <a:lnTo>
                  <a:pt x="608767" y="347424"/>
                </a:lnTo>
                <a:close/>
                <a:moveTo>
                  <a:pt x="758666" y="515660"/>
                </a:moveTo>
                <a:cubicBezTo>
                  <a:pt x="745807" y="569119"/>
                  <a:pt x="683538" y="609600"/>
                  <a:pt x="608647" y="609600"/>
                </a:cubicBezTo>
                <a:cubicBezTo>
                  <a:pt x="533757" y="609600"/>
                  <a:pt x="471488" y="569119"/>
                  <a:pt x="458629" y="515660"/>
                </a:cubicBezTo>
                <a:cubicBezTo>
                  <a:pt x="455533" y="502563"/>
                  <a:pt x="459819" y="489109"/>
                  <a:pt x="466606" y="477441"/>
                </a:cubicBezTo>
                <a:lnTo>
                  <a:pt x="579953" y="283131"/>
                </a:lnTo>
                <a:cubicBezTo>
                  <a:pt x="585907" y="272891"/>
                  <a:pt x="596860" y="266700"/>
                  <a:pt x="608647" y="266700"/>
                </a:cubicBezTo>
                <a:cubicBezTo>
                  <a:pt x="620435" y="266700"/>
                  <a:pt x="631388" y="273010"/>
                  <a:pt x="637342" y="283131"/>
                </a:cubicBezTo>
                <a:lnTo>
                  <a:pt x="750689" y="477441"/>
                </a:lnTo>
                <a:cubicBezTo>
                  <a:pt x="757476" y="489109"/>
                  <a:pt x="761762" y="502563"/>
                  <a:pt x="758666" y="515660"/>
                </a:cubicBezTo>
                <a:close/>
              </a:path>
            </a:pathLst>
          </a:custGeom>
          <a:solidFill>
            <a:srgbClr val="8A75F5">
              <a:alpha val="66667"/>
            </a:srgbClr>
          </a:solidFill>
        </p:spPr>
      </p:sp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1667933" y="3733800"/>
            <a:ext cx="1066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平衡性</a:t>
            </a:r>
            <a:endParaRPr lang="en-US" sz="1600" dirty="0"/>
          </a:p>
        </p:txBody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848783" y="4191000"/>
            <a:ext cx="2705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“平衡”被提及334次，要求数值调整透明可预期。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384800" y="21082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711200" y="0"/>
                </a:moveTo>
                <a:lnTo>
                  <a:pt x="711200" y="0"/>
                </a:lnTo>
                <a:cubicBezTo>
                  <a:pt x="1103722" y="0"/>
                  <a:pt x="1422400" y="318678"/>
                  <a:pt x="1422400" y="711200"/>
                </a:cubicBezTo>
                <a:lnTo>
                  <a:pt x="1422400" y="711200"/>
                </a:lnTo>
                <a:cubicBezTo>
                  <a:pt x="1422400" y="1103722"/>
                  <a:pt x="1103722" y="1422400"/>
                  <a:pt x="711200" y="1422400"/>
                </a:cubicBezTo>
                <a:lnTo>
                  <a:pt x="711200" y="1422400"/>
                </a:lnTo>
                <a:cubicBezTo>
                  <a:pt x="318678" y="1422400"/>
                  <a:pt x="0" y="1103722"/>
                  <a:pt x="0" y="711200"/>
                </a:cubicBezTo>
                <a:lnTo>
                  <a:pt x="0" y="711200"/>
                </a:lnTo>
                <a:cubicBezTo>
                  <a:pt x="0" y="318678"/>
                  <a:pt x="318678" y="0"/>
                  <a:pt x="711200" y="0"/>
                </a:cubicBezTo>
                <a:close/>
              </a:path>
            </a:pathLst>
          </a:custGeom>
          <a:solidFill>
            <a:srgbClr val="F8A8D8">
              <a:alpha val="4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667375" y="24384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571500" y="523875"/>
                </a:moveTo>
                <a:cubicBezTo>
                  <a:pt x="545157" y="523875"/>
                  <a:pt x="523875" y="545157"/>
                  <a:pt x="523875" y="571500"/>
                </a:cubicBezTo>
                <a:cubicBezTo>
                  <a:pt x="523875" y="597843"/>
                  <a:pt x="545157" y="619125"/>
                  <a:pt x="571500" y="619125"/>
                </a:cubicBezTo>
                <a:lnTo>
                  <a:pt x="809625" y="619125"/>
                </a:lnTo>
                <a:cubicBezTo>
                  <a:pt x="835968" y="619125"/>
                  <a:pt x="857250" y="597843"/>
                  <a:pt x="857250" y="571500"/>
                </a:cubicBezTo>
                <a:lnTo>
                  <a:pt x="857250" y="333375"/>
                </a:lnTo>
                <a:cubicBezTo>
                  <a:pt x="857250" y="307032"/>
                  <a:pt x="835968" y="285750"/>
                  <a:pt x="809625" y="285750"/>
                </a:cubicBezTo>
                <a:cubicBezTo>
                  <a:pt x="783282" y="285750"/>
                  <a:pt x="762000" y="307032"/>
                  <a:pt x="762000" y="333375"/>
                </a:cubicBezTo>
                <a:lnTo>
                  <a:pt x="762000" y="456456"/>
                </a:lnTo>
                <a:lnTo>
                  <a:pt x="509885" y="204341"/>
                </a:lnTo>
                <a:cubicBezTo>
                  <a:pt x="491282" y="185737"/>
                  <a:pt x="461070" y="185737"/>
                  <a:pt x="442466" y="204341"/>
                </a:cubicBezTo>
                <a:lnTo>
                  <a:pt x="285750" y="361206"/>
                </a:lnTo>
                <a:lnTo>
                  <a:pt x="81260" y="156865"/>
                </a:lnTo>
                <a:cubicBezTo>
                  <a:pt x="62657" y="138261"/>
                  <a:pt x="32445" y="138261"/>
                  <a:pt x="13841" y="156865"/>
                </a:cubicBezTo>
                <a:cubicBezTo>
                  <a:pt x="-4762" y="175468"/>
                  <a:pt x="-4762" y="205680"/>
                  <a:pt x="13841" y="224284"/>
                </a:cubicBezTo>
                <a:lnTo>
                  <a:pt x="251966" y="462409"/>
                </a:lnTo>
                <a:cubicBezTo>
                  <a:pt x="270570" y="481012"/>
                  <a:pt x="300782" y="481012"/>
                  <a:pt x="319385" y="462409"/>
                </a:cubicBezTo>
                <a:lnTo>
                  <a:pt x="476250" y="305544"/>
                </a:lnTo>
                <a:lnTo>
                  <a:pt x="694581" y="523875"/>
                </a:lnTo>
                <a:lnTo>
                  <a:pt x="571500" y="523875"/>
                </a:lnTo>
                <a:close/>
              </a:path>
            </a:pathLst>
          </a:custGeom>
          <a:solidFill>
            <a:srgbClr val="F8A8D8"/>
          </a:solidFill>
        </p:spPr>
      </p:sp>
      <p:sp>
        <p:nvSpPr>
          <p:cNvPr id="11" name="Text 7"/>
          <p:cNvSpPr/>
          <p:nvPr>
            <p:custDataLst>
              <p:tags r:id="rId5"/>
            </p:custDataLst>
          </p:nvPr>
        </p:nvSpPr>
        <p:spPr>
          <a:xfrm>
            <a:off x="5715000" y="3683000"/>
            <a:ext cx="76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削弱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6"/>
            </p:custDataLst>
          </p:nvPr>
        </p:nvSpPr>
        <p:spPr>
          <a:xfrm>
            <a:off x="4743450" y="4140200"/>
            <a:ext cx="2705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“削弱”被提及366次，担心投入被贬值。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381067" y="2362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EB8F8">
              <a:alpha val="30196"/>
            </a:srgbClr>
          </a:solidFill>
        </p:spPr>
      </p:sp>
      <p:sp>
        <p:nvSpPr>
          <p:cNvPr id="14" name="Shape 10"/>
          <p:cNvSpPr/>
          <p:nvPr/>
        </p:nvSpPr>
        <p:spPr>
          <a:xfrm>
            <a:off x="9647767" y="2667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-19050"/>
                </a:moveTo>
                <a:cubicBezTo>
                  <a:pt x="327065" y="-19050"/>
                  <a:pt x="314325" y="-6310"/>
                  <a:pt x="314325" y="9525"/>
                </a:cubicBezTo>
                <a:lnTo>
                  <a:pt x="314325" y="23813"/>
                </a:lnTo>
                <a:lnTo>
                  <a:pt x="312182" y="23813"/>
                </a:lnTo>
                <a:cubicBezTo>
                  <a:pt x="268605" y="23813"/>
                  <a:pt x="233363" y="59174"/>
                  <a:pt x="233363" y="102632"/>
                </a:cubicBezTo>
                <a:cubicBezTo>
                  <a:pt x="233363" y="142399"/>
                  <a:pt x="263009" y="175974"/>
                  <a:pt x="302419" y="180856"/>
                </a:cubicBezTo>
                <a:lnTo>
                  <a:pt x="375047" y="189905"/>
                </a:lnTo>
                <a:cubicBezTo>
                  <a:pt x="381119" y="190619"/>
                  <a:pt x="385763" y="195858"/>
                  <a:pt x="385763" y="202049"/>
                </a:cubicBezTo>
                <a:cubicBezTo>
                  <a:pt x="385763" y="208836"/>
                  <a:pt x="380286" y="214193"/>
                  <a:pt x="373618" y="214193"/>
                </a:cubicBezTo>
                <a:lnTo>
                  <a:pt x="285750" y="214313"/>
                </a:lnTo>
                <a:cubicBezTo>
                  <a:pt x="267295" y="214313"/>
                  <a:pt x="252413" y="229195"/>
                  <a:pt x="252413" y="247650"/>
                </a:cubicBezTo>
                <a:cubicBezTo>
                  <a:pt x="252413" y="266105"/>
                  <a:pt x="267295" y="280987"/>
                  <a:pt x="285750" y="280987"/>
                </a:cubicBezTo>
                <a:lnTo>
                  <a:pt x="314325" y="280987"/>
                </a:lnTo>
                <a:lnTo>
                  <a:pt x="314325" y="295275"/>
                </a:lnTo>
                <a:cubicBezTo>
                  <a:pt x="314325" y="311110"/>
                  <a:pt x="327065" y="323850"/>
                  <a:pt x="342900" y="323850"/>
                </a:cubicBezTo>
                <a:cubicBezTo>
                  <a:pt x="358735" y="323850"/>
                  <a:pt x="371475" y="311110"/>
                  <a:pt x="371475" y="295275"/>
                </a:cubicBezTo>
                <a:lnTo>
                  <a:pt x="371475" y="280987"/>
                </a:lnTo>
                <a:lnTo>
                  <a:pt x="373618" y="280987"/>
                </a:lnTo>
                <a:cubicBezTo>
                  <a:pt x="417195" y="280987"/>
                  <a:pt x="452437" y="245626"/>
                  <a:pt x="452437" y="202168"/>
                </a:cubicBezTo>
                <a:cubicBezTo>
                  <a:pt x="452437" y="162401"/>
                  <a:pt x="422791" y="128826"/>
                  <a:pt x="383381" y="123944"/>
                </a:cubicBezTo>
                <a:lnTo>
                  <a:pt x="310753" y="114895"/>
                </a:lnTo>
                <a:cubicBezTo>
                  <a:pt x="304681" y="114181"/>
                  <a:pt x="300038" y="108942"/>
                  <a:pt x="300038" y="102751"/>
                </a:cubicBezTo>
                <a:cubicBezTo>
                  <a:pt x="300038" y="95964"/>
                  <a:pt x="305514" y="90607"/>
                  <a:pt x="312182" y="90607"/>
                </a:cubicBezTo>
                <a:lnTo>
                  <a:pt x="390525" y="90488"/>
                </a:lnTo>
                <a:cubicBezTo>
                  <a:pt x="408980" y="90488"/>
                  <a:pt x="423863" y="75605"/>
                  <a:pt x="423863" y="57150"/>
                </a:cubicBezTo>
                <a:cubicBezTo>
                  <a:pt x="423863" y="38695"/>
                  <a:pt x="408980" y="23813"/>
                  <a:pt x="390525" y="23813"/>
                </a:cubicBezTo>
                <a:lnTo>
                  <a:pt x="371475" y="23813"/>
                </a:lnTo>
                <a:lnTo>
                  <a:pt x="371475" y="9525"/>
                </a:lnTo>
                <a:cubicBezTo>
                  <a:pt x="371475" y="-6310"/>
                  <a:pt x="358735" y="-19050"/>
                  <a:pt x="342900" y="-19050"/>
                </a:cubicBezTo>
                <a:close/>
                <a:moveTo>
                  <a:pt x="130135" y="406598"/>
                </a:moveTo>
                <a:lnTo>
                  <a:pt x="79415" y="457200"/>
                </a:lnTo>
                <a:lnTo>
                  <a:pt x="38100" y="457200"/>
                </a:lnTo>
                <a:cubicBezTo>
                  <a:pt x="17026" y="457200"/>
                  <a:pt x="0" y="474226"/>
                  <a:pt x="0" y="495300"/>
                </a:cubicBezTo>
                <a:lnTo>
                  <a:pt x="0" y="571500"/>
                </a:lnTo>
                <a:cubicBezTo>
                  <a:pt x="0" y="592574"/>
                  <a:pt x="17026" y="609600"/>
                  <a:pt x="38100" y="609600"/>
                </a:cubicBezTo>
                <a:lnTo>
                  <a:pt x="419695" y="609600"/>
                </a:lnTo>
                <a:cubicBezTo>
                  <a:pt x="454223" y="609600"/>
                  <a:pt x="487918" y="598527"/>
                  <a:pt x="515779" y="578048"/>
                </a:cubicBezTo>
                <a:lnTo>
                  <a:pt x="666512" y="466963"/>
                </a:lnTo>
                <a:cubicBezTo>
                  <a:pt x="687705" y="451366"/>
                  <a:pt x="692229" y="421600"/>
                  <a:pt x="676632" y="400407"/>
                </a:cubicBezTo>
                <a:cubicBezTo>
                  <a:pt x="661035" y="379214"/>
                  <a:pt x="631269" y="374690"/>
                  <a:pt x="610076" y="390287"/>
                </a:cubicBezTo>
                <a:lnTo>
                  <a:pt x="467439" y="495300"/>
                </a:lnTo>
                <a:lnTo>
                  <a:pt x="333375" y="495300"/>
                </a:lnTo>
                <a:cubicBezTo>
                  <a:pt x="317540" y="495300"/>
                  <a:pt x="304800" y="482560"/>
                  <a:pt x="304800" y="466725"/>
                </a:cubicBezTo>
                <a:cubicBezTo>
                  <a:pt x="304800" y="450890"/>
                  <a:pt x="317540" y="438150"/>
                  <a:pt x="333375" y="438150"/>
                </a:cubicBezTo>
                <a:lnTo>
                  <a:pt x="419100" y="438150"/>
                </a:lnTo>
                <a:cubicBezTo>
                  <a:pt x="440174" y="438150"/>
                  <a:pt x="457200" y="421124"/>
                  <a:pt x="457200" y="400050"/>
                </a:cubicBezTo>
                <a:cubicBezTo>
                  <a:pt x="457200" y="378976"/>
                  <a:pt x="440174" y="361950"/>
                  <a:pt x="419100" y="361950"/>
                </a:cubicBezTo>
                <a:lnTo>
                  <a:pt x="237887" y="361950"/>
                </a:lnTo>
                <a:cubicBezTo>
                  <a:pt x="197525" y="361950"/>
                  <a:pt x="158710" y="378023"/>
                  <a:pt x="130135" y="406598"/>
                </a:cubicBezTo>
                <a:close/>
              </a:path>
            </a:pathLst>
          </a:custGeom>
          <a:solidFill>
            <a:srgbClr val="8EB8F8"/>
          </a:solidFill>
        </p:spPr>
      </p:sp>
      <p:sp>
        <p:nvSpPr>
          <p:cNvPr id="15" name="Text 11"/>
          <p:cNvSpPr/>
          <p:nvPr>
            <p:custDataLst>
              <p:tags r:id="rId7"/>
            </p:custDataLst>
          </p:nvPr>
        </p:nvSpPr>
        <p:spPr>
          <a:xfrm>
            <a:off x="9609667" y="3733800"/>
            <a:ext cx="76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补偿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8"/>
            </p:custDataLst>
          </p:nvPr>
        </p:nvSpPr>
        <p:spPr>
          <a:xfrm>
            <a:off x="8638117" y="4191000"/>
            <a:ext cx="2705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“补偿”被提及939次，期待及时回馈。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03200" y="52578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玩家对投入保值和公平竞争的</a:t>
            </a:r>
            <a:r>
              <a:rPr lang="en-US" sz="1600" dirty="0">
                <a:solidFill>
                  <a:srgbClr val="3A3F6B"/>
                </a:solidFill>
                <a:highlight>
                  <a:srgbClr val="F8A8D8">
                    <a:alpha val="66700"/>
                  </a:srgbClr>
                </a:highlight>
                <a:latin typeface="Noto Sans SC" pitchFamily="34" charset="0"/>
                <a:ea typeface="Noto Sans SC" pitchFamily="34" charset="0"/>
                <a:cs typeface="Noto Sans SC" pitchFamily="34" charset="0"/>
              </a:rPr>
              <a:t> 强烈诉求 </a:t>
            </a: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贯穿始终。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3-d2t6aodnfo2stf9didqg.jpg"/>
          <p:cNvPicPr>
            <a:picLocks noChangeAspect="1"/>
          </p:cNvPicPr>
          <p:nvPr/>
        </p:nvPicPr>
        <p:blipFill>
          <a:blip r:embed="rId2"/>
          <a:srcRect t="3" b="3"/>
          <a:stretch>
            <a:fillRect/>
          </a:stretch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04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538289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正负反差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pic>
        <p:nvPicPr>
          <p:cNvPr id="4" name="Image 2" descr="https://kimi-web-img.moonshot.cn/img/openclipart.org/f0be8bfea0d29e29db15c6d90b41fa645ff2dfac.png"/>
          <p:cNvPicPr>
            <a:picLocks noChangeAspect="1"/>
          </p:cNvPicPr>
          <p:nvPr/>
        </p:nvPicPr>
        <p:blipFill>
          <a:blip r:embed="rId3"/>
          <a:srcRect t="2958" b="2958"/>
          <a:stretch>
            <a:fillRect/>
          </a:stretch>
        </p:blipFill>
        <p:spPr>
          <a:xfrm>
            <a:off x="1143000" y="1397000"/>
            <a:ext cx="4064000" cy="4064000"/>
          </a:xfrm>
          <a:prstGeom prst="roundRect">
            <a:avLst>
              <a:gd name="adj" fmla="val 5000"/>
            </a:avLst>
          </a:prstGeom>
        </p:spPr>
      </p:pic>
      <p:sp>
        <p:nvSpPr>
          <p:cNvPr id="5" name="Text 0"/>
          <p:cNvSpPr/>
          <p:nvPr/>
        </p:nvSpPr>
        <p:spPr>
          <a:xfrm>
            <a:off x="6502400" y="1873250"/>
            <a:ext cx="56642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公平性优化获认可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6502400" y="2444750"/>
            <a:ext cx="5549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A75F5">
                    <a:alpha val="66700"/>
                  </a:srgbClr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反非法组队获零星点赞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6502400" y="3003550"/>
            <a:ext cx="5537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少数玩家认可关闭部分撤离点以抑制作弊，认为官方在公平性上迈出实质一步。这类</a:t>
            </a:r>
            <a:r>
              <a:rPr lang="en-US" sz="1600" dirty="0">
                <a:solidFill>
                  <a:srgbClr val="3A3F6B"/>
                </a:solidFill>
                <a:highlight>
                  <a:srgbClr val="8EB8F8">
                    <a:alpha val="66700"/>
                  </a:srgbClr>
                </a:highlight>
                <a:latin typeface="Noto Sans SC" pitchFamily="34" charset="0"/>
                <a:ea typeface="Noto Sans SC" pitchFamily="34" charset="0"/>
                <a:cs typeface="Noto Sans SC" pitchFamily="34" charset="0"/>
              </a:rPr>
              <a:t> 正面反馈虽占比低却立场鲜明 </a:t>
            </a: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，证明玩家并非一味反对改动，而是痛恨影响体验的粗暴调整。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6502400" y="4121150"/>
            <a:ext cx="5435600" cy="863600"/>
          </a:xfrm>
          <a:custGeom>
            <a:avLst/>
            <a:gdLst/>
            <a:ahLst/>
            <a:cxnLst/>
            <a:rect l="l" t="t" r="r" b="b"/>
            <a:pathLst>
              <a:path w="5435600" h="863600">
                <a:moveTo>
                  <a:pt x="101603" y="0"/>
                </a:moveTo>
                <a:lnTo>
                  <a:pt x="5333997" y="0"/>
                </a:lnTo>
                <a:cubicBezTo>
                  <a:pt x="5390111" y="0"/>
                  <a:pt x="5435600" y="45489"/>
                  <a:pt x="5435600" y="101603"/>
                </a:cubicBezTo>
                <a:lnTo>
                  <a:pt x="5435600" y="761997"/>
                </a:lnTo>
                <a:cubicBezTo>
                  <a:pt x="5435600" y="818111"/>
                  <a:pt x="5390111" y="863600"/>
                  <a:pt x="5333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</p:spPr>
      </p:sp>
      <p:sp>
        <p:nvSpPr>
          <p:cNvPr id="9" name="Text 4"/>
          <p:cNvSpPr/>
          <p:nvPr/>
        </p:nvSpPr>
        <p:spPr>
          <a:xfrm>
            <a:off x="6654800" y="427355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关键洞察：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654800" y="4578350"/>
            <a:ext cx="5219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为官方提供了继续优化反作弊的</a:t>
            </a:r>
            <a:r>
              <a:rPr lang="en-US" sz="1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舆论支点</a:t>
            </a: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52800" y="1676400"/>
            <a:ext cx="5715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观望派：核心用户的缓冲层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61828" y="2387600"/>
            <a:ext cx="7073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中性评论占比高达75.53%，其温和反讽的话术为挽回风评留下余地。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35000" y="3302000"/>
            <a:ext cx="4673600" cy="1727200"/>
          </a:xfrm>
          <a:custGeom>
            <a:avLst/>
            <a:gdLst/>
            <a:ahLst/>
            <a:cxnLst/>
            <a:rect l="l" t="t" r="r" b="b"/>
            <a:pathLst>
              <a:path w="4673600" h="1727200">
                <a:moveTo>
                  <a:pt x="203205" y="0"/>
                </a:moveTo>
                <a:lnTo>
                  <a:pt x="4470395" y="0"/>
                </a:lnTo>
                <a:cubicBezTo>
                  <a:pt x="4582622" y="0"/>
                  <a:pt x="4673600" y="90978"/>
                  <a:pt x="4673600" y="203205"/>
                </a:cubicBezTo>
                <a:lnTo>
                  <a:pt x="4673600" y="1523995"/>
                </a:lnTo>
                <a:cubicBezTo>
                  <a:pt x="4673600" y="1636222"/>
                  <a:pt x="4582622" y="1727200"/>
                  <a:pt x="4470395" y="1727200"/>
                </a:cubicBezTo>
                <a:lnTo>
                  <a:pt x="203205" y="1727200"/>
                </a:lnTo>
                <a:cubicBezTo>
                  <a:pt x="91053" y="1727200"/>
                  <a:pt x="0" y="1636147"/>
                  <a:pt x="0" y="1523995"/>
                </a:cubicBezTo>
                <a:lnTo>
                  <a:pt x="0" y="203205"/>
                </a:lnTo>
                <a:cubicBezTo>
                  <a:pt x="0" y="91053"/>
                  <a:pt x="91053" y="0"/>
                  <a:pt x="203205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28625"/>
                </a:moveTo>
                <a:cubicBezTo>
                  <a:pt x="354866" y="428625"/>
                  <a:pt x="457200" y="332631"/>
                  <a:pt x="457200" y="214313"/>
                </a:cubicBezTo>
                <a:cubicBezTo>
                  <a:pt x="457200" y="95994"/>
                  <a:pt x="354866" y="0"/>
                  <a:pt x="228600" y="0"/>
                </a:cubicBezTo>
                <a:cubicBezTo>
                  <a:pt x="102334" y="0"/>
                  <a:pt x="0" y="95994"/>
                  <a:pt x="0" y="214313"/>
                </a:cubicBezTo>
                <a:cubicBezTo>
                  <a:pt x="0" y="262801"/>
                  <a:pt x="17145" y="307449"/>
                  <a:pt x="46077" y="343346"/>
                </a:cubicBezTo>
                <a:lnTo>
                  <a:pt x="2500" y="425768"/>
                </a:lnTo>
                <a:cubicBezTo>
                  <a:pt x="-1786" y="433804"/>
                  <a:pt x="-446" y="443627"/>
                  <a:pt x="5715" y="450324"/>
                </a:cubicBezTo>
                <a:cubicBezTo>
                  <a:pt x="11876" y="457021"/>
                  <a:pt x="21610" y="459075"/>
                  <a:pt x="29914" y="455503"/>
                </a:cubicBezTo>
                <a:lnTo>
                  <a:pt x="135642" y="410230"/>
                </a:lnTo>
                <a:cubicBezTo>
                  <a:pt x="164038" y="422017"/>
                  <a:pt x="195471" y="428625"/>
                  <a:pt x="228600" y="428625"/>
                </a:cubicBezTo>
                <a:close/>
                <a:moveTo>
                  <a:pt x="114300" y="185738"/>
                </a:moveTo>
                <a:cubicBezTo>
                  <a:pt x="130071" y="185738"/>
                  <a:pt x="142875" y="198542"/>
                  <a:pt x="142875" y="214313"/>
                </a:cubicBezTo>
                <a:cubicBezTo>
                  <a:pt x="142875" y="230083"/>
                  <a:pt x="130071" y="242888"/>
                  <a:pt x="114300" y="242888"/>
                </a:cubicBezTo>
                <a:cubicBezTo>
                  <a:pt x="98529" y="242888"/>
                  <a:pt x="85725" y="230083"/>
                  <a:pt x="85725" y="214313"/>
                </a:cubicBezTo>
                <a:cubicBezTo>
                  <a:pt x="85725" y="198542"/>
                  <a:pt x="98529" y="185738"/>
                  <a:pt x="114300" y="185738"/>
                </a:cubicBezTo>
                <a:close/>
                <a:moveTo>
                  <a:pt x="228600" y="185738"/>
                </a:moveTo>
                <a:cubicBezTo>
                  <a:pt x="244371" y="185738"/>
                  <a:pt x="257175" y="198542"/>
                  <a:pt x="257175" y="214313"/>
                </a:cubicBezTo>
                <a:cubicBezTo>
                  <a:pt x="257175" y="230083"/>
                  <a:pt x="244371" y="242888"/>
                  <a:pt x="228600" y="242888"/>
                </a:cubicBezTo>
                <a:cubicBezTo>
                  <a:pt x="212829" y="242888"/>
                  <a:pt x="200025" y="230083"/>
                  <a:pt x="200025" y="214313"/>
                </a:cubicBezTo>
                <a:cubicBezTo>
                  <a:pt x="200025" y="198542"/>
                  <a:pt x="212829" y="185738"/>
                  <a:pt x="228600" y="185738"/>
                </a:cubicBezTo>
                <a:close/>
                <a:moveTo>
                  <a:pt x="314325" y="214313"/>
                </a:moveTo>
                <a:cubicBezTo>
                  <a:pt x="314325" y="198542"/>
                  <a:pt x="327129" y="185738"/>
                  <a:pt x="342900" y="185738"/>
                </a:cubicBezTo>
                <a:cubicBezTo>
                  <a:pt x="358671" y="185738"/>
                  <a:pt x="371475" y="198542"/>
                  <a:pt x="371475" y="214313"/>
                </a:cubicBezTo>
                <a:cubicBezTo>
                  <a:pt x="371475" y="230083"/>
                  <a:pt x="358671" y="242888"/>
                  <a:pt x="342900" y="242888"/>
                </a:cubicBezTo>
                <a:cubicBezTo>
                  <a:pt x="327129" y="242888"/>
                  <a:pt x="314325" y="230083"/>
                  <a:pt x="314325" y="214313"/>
                </a:cubicBezTo>
                <a:close/>
              </a:path>
            </a:pathLst>
          </a:custGeom>
          <a:solidFill>
            <a:srgbClr val="8EB8F8"/>
          </a:solidFill>
        </p:spPr>
      </p:sp>
      <p:sp>
        <p:nvSpPr>
          <p:cNvPr id="8" name="Text 4"/>
          <p:cNvSpPr/>
          <p:nvPr/>
        </p:nvSpPr>
        <p:spPr>
          <a:xfrm>
            <a:off x="774700" y="4064000"/>
            <a:ext cx="439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典型中性评论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87400" y="4521200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“敢这样改还是嫌玩家太多了”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53100" y="38608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331708"/>
                </a:moveTo>
                <a:cubicBezTo>
                  <a:pt x="689491" y="316825"/>
                  <a:pt x="689491" y="292656"/>
                  <a:pt x="674608" y="277773"/>
                </a:cubicBezTo>
                <a:lnTo>
                  <a:pt x="522208" y="125373"/>
                </a:lnTo>
                <a:cubicBezTo>
                  <a:pt x="507325" y="110490"/>
                  <a:pt x="483156" y="110490"/>
                  <a:pt x="468273" y="125373"/>
                </a:cubicBezTo>
                <a:cubicBezTo>
                  <a:pt x="453390" y="140256"/>
                  <a:pt x="453390" y="164425"/>
                  <a:pt x="468273" y="179308"/>
                </a:cubicBezTo>
                <a:lnTo>
                  <a:pt x="5556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555665" y="342900"/>
                </a:lnTo>
                <a:lnTo>
                  <a:pt x="468273" y="430292"/>
                </a:lnTo>
                <a:cubicBezTo>
                  <a:pt x="453390" y="445175"/>
                  <a:pt x="453390" y="469344"/>
                  <a:pt x="468273" y="484227"/>
                </a:cubicBezTo>
                <a:cubicBezTo>
                  <a:pt x="483156" y="499110"/>
                  <a:pt x="507325" y="499110"/>
                  <a:pt x="522208" y="484227"/>
                </a:cubicBezTo>
                <a:lnTo>
                  <a:pt x="674608" y="331827"/>
                </a:lnTo>
                <a:close/>
              </a:path>
            </a:pathLst>
          </a:custGeom>
          <a:solidFill>
            <a:srgbClr val="F8A8D8"/>
          </a:solidFill>
        </p:spPr>
      </p:sp>
      <p:sp>
        <p:nvSpPr>
          <p:cNvPr id="11" name="Shape 7"/>
          <p:cNvSpPr/>
          <p:nvPr/>
        </p:nvSpPr>
        <p:spPr>
          <a:xfrm>
            <a:off x="6883400" y="3149600"/>
            <a:ext cx="4673600" cy="2032000"/>
          </a:xfrm>
          <a:custGeom>
            <a:avLst/>
            <a:gdLst/>
            <a:ahLst/>
            <a:cxnLst/>
            <a:rect l="l" t="t" r="r" b="b"/>
            <a:pathLst>
              <a:path w="4673600" h="2032000">
                <a:moveTo>
                  <a:pt x="203200" y="0"/>
                </a:moveTo>
                <a:lnTo>
                  <a:pt x="4470400" y="0"/>
                </a:lnTo>
                <a:cubicBezTo>
                  <a:pt x="4582549" y="0"/>
                  <a:pt x="4673600" y="91051"/>
                  <a:pt x="4673600" y="203200"/>
                </a:cubicBezTo>
                <a:lnTo>
                  <a:pt x="4673600" y="1828800"/>
                </a:lnTo>
                <a:cubicBezTo>
                  <a:pt x="4673600" y="1940949"/>
                  <a:pt x="4582549" y="2032000"/>
                  <a:pt x="4470400" y="2032000"/>
                </a:cubicBezTo>
                <a:lnTo>
                  <a:pt x="203200" y="2032000"/>
                </a:lnTo>
                <a:cubicBezTo>
                  <a:pt x="91051" y="2032000"/>
                  <a:pt x="0" y="1940949"/>
                  <a:pt x="0" y="1828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934450" y="3352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8A75F5">
              <a:alpha val="66667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7023100" y="3911600"/>
            <a:ext cx="439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潜在转化可能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035800" y="4368800"/>
            <a:ext cx="4368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核心用户尚未流失，及时优化可</a:t>
            </a:r>
            <a:r>
              <a:rPr lang="en-US" sz="1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将观望转化为认可</a:t>
            </a: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3-d2t6aodnfo2stf9didqg.jpg"/>
          <p:cNvPicPr>
            <a:picLocks noChangeAspect="1"/>
          </p:cNvPicPr>
          <p:nvPr/>
        </p:nvPicPr>
        <p:blipFill>
          <a:blip r:embed="rId2"/>
          <a:srcRect t="3" b="3"/>
          <a:stretch>
            <a:fillRect/>
          </a:stretch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05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538289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核心诉求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2:21:53-d2t6aodnfo2stf9didqg.jpg"/>
          <p:cNvPicPr>
            <a:picLocks noChangeAspect="1"/>
          </p:cNvPicPr>
          <p:nvPr/>
        </p:nvPicPr>
        <p:blipFill>
          <a:blip r:embed="rId1"/>
          <a:srcRect t="3" b="3"/>
          <a:stretch>
            <a:fillRect/>
          </a:stretch>
        </p:blipFill>
        <p:spPr>
          <a:xfrm>
            <a:off x="-30480" y="-47625"/>
            <a:ext cx="12214225" cy="69538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5770" y="215900"/>
            <a:ext cx="11261725" cy="92233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关键发现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### 4.1 玩家对游戏改动的核心反馈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1. **负面反馈集中点**: 主要集中在撤离点人数限制、游戏平衡性调整等改动，玩家对"策划脑子呢 撤离点五个人？"这类改动表示强烈不满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2. **正面反馈亮点**: 部分玩家认可针对非法组队、游戏公平性的优化措施，如"为了防止非法组队现象的发生，我们将取消多个撤离点的设置"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3. **中性反馈特点**: 多数玩家处于观望态度，如"敢这样改还是嫌玩家太多了"，对改动效果持保留意见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67200" y="1066800"/>
            <a:ext cx="3886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玩家三大核心诉求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200400" y="5486400"/>
            <a:ext cx="5791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任何单一维度失守都会触发连锁负面，版本更新必须</a:t>
            </a:r>
            <a:r>
              <a:rPr lang="en-US" sz="1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系统同步</a:t>
            </a: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。</a:t>
            </a:r>
            <a:endParaRPr lang="en-US" sz="1600" dirty="0"/>
          </a:p>
        </p:txBody>
      </p:sp>
      <p:sp>
        <p:nvSpPr>
          <p:cNvPr id="27" name="文本框 26"/>
          <p:cNvSpPr txBox="1"/>
          <p:nvPr/>
        </p:nvSpPr>
        <p:spPr>
          <a:xfrm>
            <a:off x="2286000" y="1732280"/>
            <a:ext cx="8275955" cy="352742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</a:rPr>
              <a:t>1. **平衡性需求**: 玩家对"削弱"(366次)、"平衡"(333次)等关键词提及频次高，反映对游戏平衡性的高度重视</a:t>
            </a:r>
            <a:endParaRPr lang="zh-CN" altLang="en-US" sz="2400">
              <a:latin typeface="Calibri" panose="020F0502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</a:rPr>
              <a:t>2. **公平性需求**: 针对非法组队、匹配机制的反馈较多，如"举报一波非法组队"，希望提升游戏公平性</a:t>
            </a:r>
            <a:endParaRPr lang="zh-CN" altLang="en-US" sz="2400">
              <a:latin typeface="Calibri" panose="020F0502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</a:rPr>
              <a:t>3. **体验优化需求**: 对卡顿、bug等问题的反馈持续存在，期待技术优化；同时对补偿机制关注度高("补偿"关键词提及939次)</a:t>
            </a:r>
            <a:endParaRPr lang="zh-CN" altLang="en-US" sz="2400">
              <a:latin typeface="Calibri" panose="020F0502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endParaRPr lang="zh-CN" altLang="en-US" sz="2400">
              <a:latin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3-d2t6aodnfo2stf9didqg.jpg"/>
          <p:cNvPicPr>
            <a:picLocks noChangeAspect="1"/>
          </p:cNvPicPr>
          <p:nvPr/>
        </p:nvPicPr>
        <p:blipFill>
          <a:blip r:embed="rId2"/>
          <a:srcRect t="3" b="3"/>
          <a:stretch>
            <a:fillRect/>
          </a:stretch>
        </p:blipFill>
        <p:spPr>
          <a:xfrm>
            <a:off x="0" y="0"/>
            <a:ext cx="12214225" cy="695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16090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06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9605" y="2985135"/>
            <a:ext cx="538289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改进路线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1898650"/>
            <a:ext cx="56642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建立预研与沟通双机制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267335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通过透明沟通将质疑前置，为负面舆情设置</a:t>
            </a:r>
            <a:r>
              <a:rPr lang="en-US" sz="1600" dirty="0">
                <a:solidFill>
                  <a:srgbClr val="3A3F6B"/>
                </a:solidFill>
                <a:highlight>
                  <a:srgbClr val="F8A8D8">
                    <a:alpha val="66700"/>
                  </a:srgbClr>
                </a:highlight>
                <a:latin typeface="Noto Sans SC" pitchFamily="34" charset="0"/>
                <a:ea typeface="Noto Sans SC" pitchFamily="34" charset="0"/>
                <a:cs typeface="Noto Sans SC" pitchFamily="34" charset="0"/>
              </a:rPr>
              <a:t> 减压阀 </a:t>
            </a: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54000" y="32829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A75F5">
              <a:alpha val="66667"/>
            </a:srgbClr>
          </a:solidFill>
        </p:spPr>
      </p:sp>
      <p:sp>
        <p:nvSpPr>
          <p:cNvPr id="7" name="Shape 3"/>
          <p:cNvSpPr/>
          <p:nvPr/>
        </p:nvSpPr>
        <p:spPr>
          <a:xfrm>
            <a:off x="396875" y="340995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59531" y="111125"/>
                </a:moveTo>
                <a:cubicBezTo>
                  <a:pt x="66129" y="111125"/>
                  <a:pt x="71438" y="116433"/>
                  <a:pt x="71438" y="123031"/>
                </a:cubicBezTo>
                <a:lnTo>
                  <a:pt x="71438" y="178594"/>
                </a:lnTo>
                <a:cubicBezTo>
                  <a:pt x="71438" y="185192"/>
                  <a:pt x="66129" y="190500"/>
                  <a:pt x="59531" y="190500"/>
                </a:cubicBezTo>
                <a:cubicBezTo>
                  <a:pt x="52933" y="190500"/>
                  <a:pt x="47625" y="185192"/>
                  <a:pt x="47625" y="178594"/>
                </a:cubicBezTo>
                <a:lnTo>
                  <a:pt x="47625" y="123031"/>
                </a:lnTo>
                <a:cubicBezTo>
                  <a:pt x="47625" y="116433"/>
                  <a:pt x="52933" y="111125"/>
                  <a:pt x="59531" y="111125"/>
                </a:cubicBezTo>
                <a:close/>
                <a:moveTo>
                  <a:pt x="150813" y="154781"/>
                </a:moveTo>
                <a:cubicBezTo>
                  <a:pt x="150813" y="148183"/>
                  <a:pt x="156121" y="142875"/>
                  <a:pt x="162719" y="142875"/>
                </a:cubicBezTo>
                <a:cubicBezTo>
                  <a:pt x="169317" y="142875"/>
                  <a:pt x="174625" y="148183"/>
                  <a:pt x="174625" y="154781"/>
                </a:cubicBezTo>
                <a:lnTo>
                  <a:pt x="174625" y="178594"/>
                </a:lnTo>
                <a:cubicBezTo>
                  <a:pt x="174625" y="185192"/>
                  <a:pt x="169317" y="190500"/>
                  <a:pt x="162719" y="190500"/>
                </a:cubicBezTo>
                <a:cubicBezTo>
                  <a:pt x="156121" y="190500"/>
                  <a:pt x="150813" y="185192"/>
                  <a:pt x="150813" y="178594"/>
                </a:cubicBezTo>
                <a:lnTo>
                  <a:pt x="150813" y="154781"/>
                </a:lnTo>
                <a:close/>
                <a:moveTo>
                  <a:pt x="111125" y="63500"/>
                </a:moveTo>
                <a:cubicBezTo>
                  <a:pt x="117723" y="63500"/>
                  <a:pt x="123031" y="68808"/>
                  <a:pt x="123031" y="75406"/>
                </a:cubicBezTo>
                <a:lnTo>
                  <a:pt x="123031" y="178594"/>
                </a:lnTo>
                <a:cubicBezTo>
                  <a:pt x="123031" y="185192"/>
                  <a:pt x="117723" y="190500"/>
                  <a:pt x="111125" y="190500"/>
                </a:cubicBezTo>
                <a:cubicBezTo>
                  <a:pt x="104527" y="190500"/>
                  <a:pt x="99219" y="185192"/>
                  <a:pt x="99219" y="178594"/>
                </a:cubicBezTo>
                <a:lnTo>
                  <a:pt x="99219" y="75406"/>
                </a:lnTo>
                <a:cubicBezTo>
                  <a:pt x="99219" y="68808"/>
                  <a:pt x="104527" y="63500"/>
                  <a:pt x="111125" y="635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4"/>
          <p:cNvSpPr/>
          <p:nvPr/>
        </p:nvSpPr>
        <p:spPr>
          <a:xfrm>
            <a:off x="965200" y="3282950"/>
            <a:ext cx="438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改动前玩家调研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5200" y="3638550"/>
            <a:ext cx="435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重大改动前通过问卷、论坛收集意见，形成预研报告。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54000" y="40957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EB8F8"/>
          </a:solidFill>
        </p:spPr>
      </p:sp>
      <p:sp>
        <p:nvSpPr>
          <p:cNvPr id="11" name="Shape 7"/>
          <p:cNvSpPr/>
          <p:nvPr/>
        </p:nvSpPr>
        <p:spPr>
          <a:xfrm>
            <a:off x="381000" y="4222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8798" y="9376"/>
                </a:moveTo>
                <a:cubicBezTo>
                  <a:pt x="234504" y="11906"/>
                  <a:pt x="238125" y="17562"/>
                  <a:pt x="238125" y="23812"/>
                </a:cubicBezTo>
                <a:lnTo>
                  <a:pt x="238125" y="230188"/>
                </a:lnTo>
                <a:cubicBezTo>
                  <a:pt x="238125" y="236438"/>
                  <a:pt x="234504" y="242094"/>
                  <a:pt x="228798" y="244624"/>
                </a:cubicBezTo>
                <a:cubicBezTo>
                  <a:pt x="223093" y="247154"/>
                  <a:pt x="216495" y="246211"/>
                  <a:pt x="211782" y="242094"/>
                </a:cubicBezTo>
                <a:lnTo>
                  <a:pt x="188664" y="221903"/>
                </a:lnTo>
                <a:cubicBezTo>
                  <a:pt x="167035" y="203002"/>
                  <a:pt x="139700" y="191988"/>
                  <a:pt x="111075" y="190649"/>
                </a:cubicBezTo>
                <a:lnTo>
                  <a:pt x="111075" y="238125"/>
                </a:lnTo>
                <a:cubicBezTo>
                  <a:pt x="111075" y="246906"/>
                  <a:pt x="103981" y="254000"/>
                  <a:pt x="95200" y="254000"/>
                </a:cubicBezTo>
                <a:lnTo>
                  <a:pt x="79325" y="254000"/>
                </a:lnTo>
                <a:cubicBezTo>
                  <a:pt x="70545" y="254000"/>
                  <a:pt x="63450" y="246906"/>
                  <a:pt x="63450" y="238125"/>
                </a:cubicBezTo>
                <a:lnTo>
                  <a:pt x="63450" y="190500"/>
                </a:lnTo>
                <a:cubicBezTo>
                  <a:pt x="28426" y="190500"/>
                  <a:pt x="0" y="162074"/>
                  <a:pt x="0" y="127000"/>
                </a:cubicBezTo>
                <a:cubicBezTo>
                  <a:pt x="0" y="91926"/>
                  <a:pt x="28426" y="63500"/>
                  <a:pt x="63500" y="63500"/>
                </a:cubicBezTo>
                <a:lnTo>
                  <a:pt x="105420" y="63500"/>
                </a:lnTo>
                <a:cubicBezTo>
                  <a:pt x="136079" y="63401"/>
                  <a:pt x="165646" y="52239"/>
                  <a:pt x="188714" y="32097"/>
                </a:cubicBezTo>
                <a:lnTo>
                  <a:pt x="211832" y="11906"/>
                </a:lnTo>
                <a:cubicBezTo>
                  <a:pt x="216495" y="7789"/>
                  <a:pt x="223193" y="6846"/>
                  <a:pt x="228848" y="9376"/>
                </a:cubicBezTo>
                <a:close/>
                <a:moveTo>
                  <a:pt x="111125" y="158750"/>
                </a:moveTo>
                <a:lnTo>
                  <a:pt x="111125" y="158849"/>
                </a:lnTo>
                <a:cubicBezTo>
                  <a:pt x="146000" y="160189"/>
                  <a:pt x="179487" y="172988"/>
                  <a:pt x="206375" y="195263"/>
                </a:cubicBezTo>
                <a:lnTo>
                  <a:pt x="206375" y="58688"/>
                </a:lnTo>
                <a:cubicBezTo>
                  <a:pt x="179487" y="80963"/>
                  <a:pt x="146000" y="93762"/>
                  <a:pt x="111125" y="95101"/>
                </a:cubicBezTo>
                <a:lnTo>
                  <a:pt x="111125" y="1587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8"/>
          <p:cNvSpPr/>
          <p:nvPr/>
        </p:nvSpPr>
        <p:spPr>
          <a:xfrm>
            <a:off x="965200" y="4095750"/>
            <a:ext cx="483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3F6B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优化改动沟通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65200" y="4451350"/>
            <a:ext cx="4813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用通俗语言说明改动目的与数据支撑，提升透明度与接受度。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69178" y="1756609"/>
            <a:ext cx="4963527" cy="4278739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20574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重点优化：从核心争议到基础体验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254000" y="2971800"/>
            <a:ext cx="5689600" cy="1828800"/>
          </a:xfrm>
          <a:custGeom>
            <a:avLst/>
            <a:gdLst/>
            <a:ahLst/>
            <a:cxnLst/>
            <a:rect l="l" t="t" r="r" b="b"/>
            <a:pathLst>
              <a:path w="5689600" h="1828800">
                <a:moveTo>
                  <a:pt x="203198" y="0"/>
                </a:moveTo>
                <a:lnTo>
                  <a:pt x="5486402" y="0"/>
                </a:lnTo>
                <a:cubicBezTo>
                  <a:pt x="5598625" y="0"/>
                  <a:pt x="5689600" y="90975"/>
                  <a:pt x="5689600" y="203198"/>
                </a:cubicBezTo>
                <a:lnTo>
                  <a:pt x="5689600" y="1625602"/>
                </a:lnTo>
                <a:cubicBezTo>
                  <a:pt x="5689600" y="1737825"/>
                  <a:pt x="5598625" y="1828800"/>
                  <a:pt x="5486402" y="1828800"/>
                </a:cubicBezTo>
                <a:lnTo>
                  <a:pt x="203198" y="1828800"/>
                </a:lnTo>
                <a:cubicBezTo>
                  <a:pt x="90975" y="1828800"/>
                  <a:pt x="0" y="1737825"/>
                  <a:pt x="0" y="1625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8A75F5">
              <a:alpha val="13333"/>
            </a:srgbClr>
          </a:solidFill>
        </p:spPr>
      </p:sp>
      <p:sp>
        <p:nvSpPr>
          <p:cNvPr id="6" name="Shape 2"/>
          <p:cNvSpPr/>
          <p:nvPr/>
        </p:nvSpPr>
        <p:spPr>
          <a:xfrm>
            <a:off x="61595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957" y="0"/>
                </a:moveTo>
                <a:cubicBezTo>
                  <a:pt x="213152" y="0"/>
                  <a:pt x="200382" y="12769"/>
                  <a:pt x="200382" y="28575"/>
                </a:cubicBezTo>
                <a:lnTo>
                  <a:pt x="200382" y="57150"/>
                </a:lnTo>
                <a:lnTo>
                  <a:pt x="57507" y="57150"/>
                </a:lnTo>
                <a:cubicBezTo>
                  <a:pt x="41702" y="57150"/>
                  <a:pt x="28932" y="69919"/>
                  <a:pt x="28932" y="85725"/>
                </a:cubicBezTo>
                <a:lnTo>
                  <a:pt x="28932" y="142875"/>
                </a:lnTo>
                <a:cubicBezTo>
                  <a:pt x="28932" y="158681"/>
                  <a:pt x="41702" y="171450"/>
                  <a:pt x="57507" y="171450"/>
                </a:cubicBezTo>
                <a:lnTo>
                  <a:pt x="200382" y="171450"/>
                </a:lnTo>
                <a:lnTo>
                  <a:pt x="200382" y="228600"/>
                </a:lnTo>
                <a:lnTo>
                  <a:pt x="63401" y="228600"/>
                </a:lnTo>
                <a:cubicBezTo>
                  <a:pt x="59650" y="228600"/>
                  <a:pt x="55989" y="230118"/>
                  <a:pt x="53310" y="232797"/>
                </a:cubicBezTo>
                <a:lnTo>
                  <a:pt x="10448" y="275659"/>
                </a:lnTo>
                <a:cubicBezTo>
                  <a:pt x="4911" y="281196"/>
                  <a:pt x="4911" y="290304"/>
                  <a:pt x="10448" y="295841"/>
                </a:cubicBezTo>
                <a:lnTo>
                  <a:pt x="53310" y="338703"/>
                </a:lnTo>
                <a:cubicBezTo>
                  <a:pt x="55989" y="341382"/>
                  <a:pt x="59650" y="342900"/>
                  <a:pt x="63401" y="342900"/>
                </a:cubicBezTo>
                <a:lnTo>
                  <a:pt x="200382" y="342900"/>
                </a:lnTo>
                <a:lnTo>
                  <a:pt x="200382" y="428625"/>
                </a:lnTo>
                <a:cubicBezTo>
                  <a:pt x="200382" y="444431"/>
                  <a:pt x="213152" y="457200"/>
                  <a:pt x="228957" y="457200"/>
                </a:cubicBezTo>
                <a:cubicBezTo>
                  <a:pt x="244763" y="457200"/>
                  <a:pt x="257532" y="444431"/>
                  <a:pt x="257532" y="428625"/>
                </a:cubicBezTo>
                <a:lnTo>
                  <a:pt x="257532" y="342900"/>
                </a:lnTo>
                <a:lnTo>
                  <a:pt x="400407" y="342900"/>
                </a:lnTo>
                <a:cubicBezTo>
                  <a:pt x="416213" y="342900"/>
                  <a:pt x="428982" y="330131"/>
                  <a:pt x="428982" y="314325"/>
                </a:cubicBezTo>
                <a:lnTo>
                  <a:pt x="428982" y="257175"/>
                </a:lnTo>
                <a:cubicBezTo>
                  <a:pt x="428982" y="241369"/>
                  <a:pt x="416213" y="228600"/>
                  <a:pt x="400407" y="228600"/>
                </a:cubicBezTo>
                <a:lnTo>
                  <a:pt x="257532" y="228600"/>
                </a:lnTo>
                <a:lnTo>
                  <a:pt x="257532" y="171450"/>
                </a:lnTo>
                <a:lnTo>
                  <a:pt x="394514" y="171450"/>
                </a:lnTo>
                <a:cubicBezTo>
                  <a:pt x="398264" y="171450"/>
                  <a:pt x="401925" y="169932"/>
                  <a:pt x="404604" y="167253"/>
                </a:cubicBezTo>
                <a:lnTo>
                  <a:pt x="447467" y="124391"/>
                </a:lnTo>
                <a:cubicBezTo>
                  <a:pt x="453003" y="118854"/>
                  <a:pt x="453003" y="109746"/>
                  <a:pt x="447467" y="104209"/>
                </a:cubicBezTo>
                <a:lnTo>
                  <a:pt x="404604" y="61347"/>
                </a:lnTo>
                <a:cubicBezTo>
                  <a:pt x="401925" y="58668"/>
                  <a:pt x="398264" y="57150"/>
                  <a:pt x="394514" y="57150"/>
                </a:cubicBezTo>
                <a:lnTo>
                  <a:pt x="257532" y="57150"/>
                </a:lnTo>
                <a:lnTo>
                  <a:pt x="257532" y="28575"/>
                </a:lnTo>
                <a:cubicBezTo>
                  <a:pt x="257532" y="12769"/>
                  <a:pt x="244763" y="0"/>
                  <a:pt x="228957" y="0"/>
                </a:cubicBezTo>
                <a:close/>
              </a:path>
            </a:pathLst>
          </a:custGeom>
          <a:solidFill>
            <a:srgbClr val="8A75F5">
              <a:alpha val="66667"/>
            </a:srgbClr>
          </a:solidFill>
        </p:spPr>
      </p:sp>
      <p:sp>
        <p:nvSpPr>
          <p:cNvPr id="7" name="Text 3"/>
          <p:cNvSpPr/>
          <p:nvPr/>
        </p:nvSpPr>
        <p:spPr>
          <a:xfrm>
            <a:off x="1333500" y="3302000"/>
            <a:ext cx="289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重新评估撤离点机制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58800" y="3886200"/>
            <a:ext cx="5181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立即评估“撤离点限5人”对匹配时长与战术多样性的影响，必要时恢复动态上限，回应玩家核心痛点。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48400" y="2971800"/>
            <a:ext cx="5689600" cy="1828800"/>
          </a:xfrm>
          <a:custGeom>
            <a:avLst/>
            <a:gdLst/>
            <a:ahLst/>
            <a:cxnLst/>
            <a:rect l="l" t="t" r="r" b="b"/>
            <a:pathLst>
              <a:path w="5689600" h="1828800">
                <a:moveTo>
                  <a:pt x="203198" y="0"/>
                </a:moveTo>
                <a:lnTo>
                  <a:pt x="5486402" y="0"/>
                </a:lnTo>
                <a:cubicBezTo>
                  <a:pt x="5598625" y="0"/>
                  <a:pt x="5689600" y="90975"/>
                  <a:pt x="5689600" y="203198"/>
                </a:cubicBezTo>
                <a:lnTo>
                  <a:pt x="5689600" y="1625602"/>
                </a:lnTo>
                <a:cubicBezTo>
                  <a:pt x="5689600" y="1737825"/>
                  <a:pt x="5598625" y="1828800"/>
                  <a:pt x="5486402" y="1828800"/>
                </a:cubicBezTo>
                <a:lnTo>
                  <a:pt x="203198" y="1828800"/>
                </a:lnTo>
                <a:cubicBezTo>
                  <a:pt x="90975" y="1828800"/>
                  <a:pt x="0" y="1737825"/>
                  <a:pt x="0" y="16256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8EB8F8">
              <a:alpha val="20000"/>
            </a:srgbClr>
          </a:solidFill>
        </p:spPr>
      </p:sp>
      <p:sp>
        <p:nvSpPr>
          <p:cNvPr id="10" name="Shape 6"/>
          <p:cNvSpPr/>
          <p:nvPr/>
        </p:nvSpPr>
        <p:spPr>
          <a:xfrm>
            <a:off x="6581775" y="3276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00114" y="86707"/>
                </a:moveTo>
                <a:lnTo>
                  <a:pt x="200114" y="130999"/>
                </a:lnTo>
                <a:lnTo>
                  <a:pt x="200561" y="131445"/>
                </a:lnTo>
                <a:cubicBezTo>
                  <a:pt x="206365" y="57864"/>
                  <a:pt x="267891" y="0"/>
                  <a:pt x="342989" y="0"/>
                </a:cubicBezTo>
                <a:cubicBezTo>
                  <a:pt x="360938" y="0"/>
                  <a:pt x="378172" y="3304"/>
                  <a:pt x="393978" y="9376"/>
                </a:cubicBezTo>
                <a:cubicBezTo>
                  <a:pt x="402908" y="12769"/>
                  <a:pt x="404515" y="24110"/>
                  <a:pt x="397818" y="30897"/>
                </a:cubicBezTo>
                <a:lnTo>
                  <a:pt x="318611" y="110103"/>
                </a:lnTo>
                <a:cubicBezTo>
                  <a:pt x="315932" y="112782"/>
                  <a:pt x="314414" y="116443"/>
                  <a:pt x="314414" y="120194"/>
                </a:cubicBezTo>
                <a:lnTo>
                  <a:pt x="314414" y="157163"/>
                </a:lnTo>
                <a:cubicBezTo>
                  <a:pt x="314414" y="165021"/>
                  <a:pt x="320844" y="171450"/>
                  <a:pt x="328702" y="171450"/>
                </a:cubicBezTo>
                <a:lnTo>
                  <a:pt x="365671" y="171450"/>
                </a:lnTo>
                <a:cubicBezTo>
                  <a:pt x="369421" y="171450"/>
                  <a:pt x="373082" y="169932"/>
                  <a:pt x="375761" y="167253"/>
                </a:cubicBezTo>
                <a:lnTo>
                  <a:pt x="454968" y="88047"/>
                </a:lnTo>
                <a:cubicBezTo>
                  <a:pt x="461754" y="81260"/>
                  <a:pt x="473095" y="82957"/>
                  <a:pt x="476488" y="91886"/>
                </a:cubicBezTo>
                <a:cubicBezTo>
                  <a:pt x="482560" y="107692"/>
                  <a:pt x="485864" y="124926"/>
                  <a:pt x="485864" y="142875"/>
                </a:cubicBezTo>
                <a:cubicBezTo>
                  <a:pt x="485864" y="196989"/>
                  <a:pt x="455771" y="244138"/>
                  <a:pt x="411301" y="268337"/>
                </a:cubicBezTo>
                <a:lnTo>
                  <a:pt x="484078" y="341114"/>
                </a:lnTo>
                <a:cubicBezTo>
                  <a:pt x="500777" y="357813"/>
                  <a:pt x="500777" y="384959"/>
                  <a:pt x="484078" y="401747"/>
                </a:cubicBezTo>
                <a:lnTo>
                  <a:pt x="430411" y="455414"/>
                </a:lnTo>
                <a:cubicBezTo>
                  <a:pt x="413712" y="472113"/>
                  <a:pt x="386566" y="472113"/>
                  <a:pt x="369778" y="455414"/>
                </a:cubicBezTo>
                <a:lnTo>
                  <a:pt x="257264" y="342900"/>
                </a:lnTo>
                <a:cubicBezTo>
                  <a:pt x="232797" y="318433"/>
                  <a:pt x="227261" y="282267"/>
                  <a:pt x="240744" y="252442"/>
                </a:cubicBezTo>
                <a:lnTo>
                  <a:pt x="159752" y="171450"/>
                </a:lnTo>
                <a:lnTo>
                  <a:pt x="115461" y="171450"/>
                </a:lnTo>
                <a:cubicBezTo>
                  <a:pt x="105906" y="171450"/>
                  <a:pt x="96976" y="166717"/>
                  <a:pt x="91708" y="158770"/>
                </a:cubicBezTo>
                <a:lnTo>
                  <a:pt x="20895" y="52596"/>
                </a:lnTo>
                <a:cubicBezTo>
                  <a:pt x="17145" y="46970"/>
                  <a:pt x="17859" y="39380"/>
                  <a:pt x="22681" y="34558"/>
                </a:cubicBezTo>
                <a:lnTo>
                  <a:pt x="63222" y="-5983"/>
                </a:lnTo>
                <a:cubicBezTo>
                  <a:pt x="68044" y="-10805"/>
                  <a:pt x="75545" y="-11519"/>
                  <a:pt x="81260" y="-7769"/>
                </a:cubicBezTo>
                <a:lnTo>
                  <a:pt x="187434" y="62954"/>
                </a:lnTo>
                <a:cubicBezTo>
                  <a:pt x="195382" y="68223"/>
                  <a:pt x="200114" y="77153"/>
                  <a:pt x="200114" y="86707"/>
                </a:cubicBezTo>
                <a:close/>
                <a:moveTo>
                  <a:pt x="192524" y="264855"/>
                </a:moveTo>
                <a:cubicBezTo>
                  <a:pt x="186898" y="297894"/>
                  <a:pt x="194667" y="332809"/>
                  <a:pt x="216098" y="360759"/>
                </a:cubicBezTo>
                <a:lnTo>
                  <a:pt x="131266" y="445502"/>
                </a:lnTo>
                <a:cubicBezTo>
                  <a:pt x="106174" y="470595"/>
                  <a:pt x="65455" y="470595"/>
                  <a:pt x="40362" y="445502"/>
                </a:cubicBezTo>
                <a:cubicBezTo>
                  <a:pt x="15270" y="420410"/>
                  <a:pt x="15270" y="379690"/>
                  <a:pt x="40362" y="354598"/>
                </a:cubicBezTo>
                <a:lnTo>
                  <a:pt x="161270" y="233690"/>
                </a:lnTo>
                <a:lnTo>
                  <a:pt x="192524" y="264944"/>
                </a:lnTo>
                <a:close/>
              </a:path>
            </a:pathLst>
          </a:custGeom>
          <a:solidFill>
            <a:srgbClr val="8EB8F8"/>
          </a:solidFill>
        </p:spPr>
      </p:sp>
      <p:sp>
        <p:nvSpPr>
          <p:cNvPr id="11" name="Text 7"/>
          <p:cNvSpPr/>
          <p:nvPr/>
        </p:nvSpPr>
        <p:spPr>
          <a:xfrm>
            <a:off x="7327900" y="3302000"/>
            <a:ext cx="2590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持续解决技术债务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53200" y="3886200"/>
            <a:ext cx="5181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同步推进</a:t>
            </a:r>
            <a:r>
              <a:rPr lang="en-US" sz="1600" dirty="0">
                <a:solidFill>
                  <a:srgbClr val="3A3F6B"/>
                </a:solidFill>
                <a:highlight>
                  <a:srgbClr val="8EB8F8">
                    <a:alpha val="66700"/>
                  </a:srgbClr>
                </a:highlight>
                <a:latin typeface="Noto Sans SC" pitchFamily="34" charset="0"/>
                <a:ea typeface="Noto Sans SC" pitchFamily="34" charset="0"/>
                <a:cs typeface="Noto Sans SC" pitchFamily="34" charset="0"/>
              </a:rPr>
              <a:t> 卡顿与bug修复 </a:t>
            </a: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，建立迭代补偿标准，用技术诚意对冲负面印象。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0-d2t6anlnfo2stf9did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525"/>
            <a:ext cx="12273280" cy="6885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02400" y="622300"/>
            <a:ext cx="5664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用内容与活动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拉回流失注意力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502400" y="1968500"/>
            <a:ext cx="5537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针对评论量下跌</a:t>
            </a:r>
            <a:r>
              <a:rPr lang="en-US" sz="1600" dirty="0">
                <a:solidFill>
                  <a:srgbClr val="3A3F6B"/>
                </a:solidFill>
                <a:highlight>
                  <a:srgbClr val="F8A8D8">
                    <a:alpha val="66700"/>
                  </a:srgbClr>
                </a:highlight>
                <a:latin typeface="Noto Sans SC" pitchFamily="34" charset="0"/>
                <a:ea typeface="Noto Sans SC" pitchFamily="34" charset="0"/>
                <a:cs typeface="Noto Sans SC" pitchFamily="34" charset="0"/>
              </a:rPr>
              <a:t> 95% </a:t>
            </a:r>
            <a:r>
              <a:rPr lang="en-US" sz="1600" dirty="0">
                <a:solidFill>
                  <a:srgbClr val="3A3F6B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的警示，规划短期内容更新与社区活动，重新制造话题与回流理由。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502400" y="2694305"/>
            <a:ext cx="5537200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总体建议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**建立改动前玩家调研机制**: 在实施重大改动前，通过问卷、论坛等渠道收集玩家意见，特别是像撤离点机制这类影响核心玩法的改动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**优化改动沟通方式**: 对改动的目的、效果进行更清晰的说明，减少玩家误解，提升改动的透明度和接受度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**关注负面反馈焦点**: 重点关注撤离点机制、平衡性调整等引发负面反馈的改动点，及时进行优化调整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**加强技术优化**: 持续解决卡顿、bug等影响游戏体验的技术问题，同时建立合理的补偿机制，回应玩家关切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A3F6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 **提升玩家留存**: 针对评论数量大幅下降的情况，通过内容更新、活动策划等方式重新吸引玩家关注，降低流失风险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6"/>
            </a:pPr>
            <a:r>
              <a:rPr lang="en-US" sz="1600" dirty="0">
                <a:solidFill>
                  <a:srgbClr val="3A3F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**新模式，新玩法，玩家共创</a:t>
            </a:r>
            <a:endParaRPr lang="en-US" sz="1600" dirty="0"/>
          </a:p>
        </p:txBody>
      </p:sp>
      <p:pic>
        <p:nvPicPr>
          <p:cNvPr id="7" name="Image 2" descr="https://kimi-img.moonshot.cn/pub/slides/25-12-18-18:26:50-d51tdqnf2enf242cej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28" y="846433"/>
            <a:ext cx="5093373" cy="28842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1:50-d2t6anlnfo2stf9didn0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21:55-d2t6aotnfo2stf9didtg.jpg"/>
          <p:cNvPicPr>
            <a:picLocks noChangeAspect="1"/>
          </p:cNvPicPr>
          <p:nvPr/>
        </p:nvPicPr>
        <p:blipFill>
          <a:blip r:embed="rId2"/>
          <a:srcRect t="3" b="3"/>
          <a:stretch>
            <a:fillRect/>
          </a:stretch>
        </p:blipFill>
        <p:spPr>
          <a:xfrm>
            <a:off x="-41275" y="0"/>
            <a:ext cx="12233275" cy="68675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9605" y="269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YOUR LOGO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715260" y="3242310"/>
            <a:ext cx="6761480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THANK YOU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27898" y="1911350"/>
            <a:ext cx="7736205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感谢您的观看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80,&quot;left&quot;:66.83330708661417,&quot;top&quot;:290,&quot;width&quot;:826.3333858267717}"/>
</p:tagLst>
</file>

<file path=ppt/tags/tag2.xml><?xml version="1.0" encoding="utf-8"?>
<p:tagLst xmlns:p="http://schemas.openxmlformats.org/presentationml/2006/main">
  <p:tag name="KSO_WM_DIAGRAM_VIRTUALLY_FRAME" val="{&quot;height&quot;:80,&quot;left&quot;:66.83330708661417,&quot;top&quot;:290,&quot;width&quot;:826.3333858267717}"/>
</p:tagLst>
</file>

<file path=ppt/tags/tag3.xml><?xml version="1.0" encoding="utf-8"?>
<p:tagLst xmlns:p="http://schemas.openxmlformats.org/presentationml/2006/main">
  <p:tag name="KSO_WM_DIAGRAM_VIRTUALLY_FRAME" val="{&quot;height&quot;:80,&quot;left&quot;:66.83330708661417,&quot;top&quot;:290,&quot;width&quot;:826.3333858267717}"/>
</p:tagLst>
</file>

<file path=ppt/tags/tag4.xml><?xml version="1.0" encoding="utf-8"?>
<p:tagLst xmlns:p="http://schemas.openxmlformats.org/presentationml/2006/main">
  <p:tag name="KSO_WM_DIAGRAM_VIRTUALLY_FRAME" val="{&quot;height&quot;:80,&quot;left&quot;:66.83330708661417,&quot;top&quot;:290,&quot;width&quot;:826.3333858267717}"/>
</p:tagLst>
</file>

<file path=ppt/tags/tag5.xml><?xml version="1.0" encoding="utf-8"?>
<p:tagLst xmlns:p="http://schemas.openxmlformats.org/presentationml/2006/main">
  <p:tag name="KSO_WM_DIAGRAM_VIRTUALLY_FRAME" val="{&quot;height&quot;:80,&quot;left&quot;:66.83330708661417,&quot;top&quot;:290,&quot;width&quot;:826.3333858267717}"/>
</p:tagLst>
</file>

<file path=ppt/tags/tag6.xml><?xml version="1.0" encoding="utf-8"?>
<p:tagLst xmlns:p="http://schemas.openxmlformats.org/presentationml/2006/main">
  <p:tag name="KSO_WM_DIAGRAM_VIRTUALLY_FRAME" val="{&quot;height&quot;:80,&quot;left&quot;:66.83330708661417,&quot;top&quot;:290,&quot;width&quot;:826.3333858267717}"/>
</p:tagLst>
</file>

<file path=ppt/tags/tag7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E6E6E6"/>
      </a:dk2>
      <a:lt2>
        <a:srgbClr val="FFFFFF"/>
      </a:lt2>
      <a:accent1>
        <a:srgbClr val="E6E6FD"/>
      </a:accent1>
      <a:accent2>
        <a:srgbClr val="E1ADFD"/>
      </a:accent2>
      <a:accent3>
        <a:srgbClr val="94E7FC"/>
      </a:accent3>
      <a:accent4>
        <a:srgbClr val="3462F9"/>
      </a:accent4>
      <a:accent5>
        <a:srgbClr val="B0D9FC"/>
      </a:accent5>
      <a:accent6>
        <a:srgbClr val="C1D1F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E6E6E6"/>
      </a:dk2>
      <a:lt2>
        <a:srgbClr val="FFFFFF"/>
      </a:lt2>
      <a:accent1>
        <a:srgbClr val="E6E6FD"/>
      </a:accent1>
      <a:accent2>
        <a:srgbClr val="E1ADFD"/>
      </a:accent2>
      <a:accent3>
        <a:srgbClr val="94E7FC"/>
      </a:accent3>
      <a:accent4>
        <a:srgbClr val="3462F9"/>
      </a:accent4>
      <a:accent5>
        <a:srgbClr val="B0D9FC"/>
      </a:accent5>
      <a:accent6>
        <a:srgbClr val="C1D1F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2240</Words>
  <Application>WPS 演示</Application>
  <PresentationFormat>On-screen Show (16:9)</PresentationFormat>
  <Paragraphs>259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MiSans</vt:lpstr>
      <vt:lpstr>Noto Sans SC</vt:lpstr>
      <vt:lpstr>Segoe Print</vt:lpstr>
      <vt:lpstr>微软雅黑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三角洲风评滑坡全复盘</dc:title>
  <dc:creator>Kimi</dc:creator>
  <dc:subject>三角洲风评滑坡全复盘</dc:subject>
  <cp:lastModifiedBy>fu</cp:lastModifiedBy>
  <cp:revision>3</cp:revision>
  <dcterms:created xsi:type="dcterms:W3CDTF">1900-01-01T00:00:00Z</dcterms:created>
  <dcterms:modified xsi:type="dcterms:W3CDTF">2026-01-09T14:13:24Z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{"Label":"三角洲风评滑坡全复盘","ContentProducer":"001191110108MACG2KBH8F10000","ProduceID":"d51qo9vtuanv9s8t637g","ReservedCode1":"","ContentPropagator":"001191110108MACG2KBH8F20000","PropagateID":"d51qo9vtuanv9s8t637g","ReservedCode2":""}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39AFBA65771E400F93D1748E0832ADBE_13</vt:lpwstr>
  </property>
</Properties>
</file>